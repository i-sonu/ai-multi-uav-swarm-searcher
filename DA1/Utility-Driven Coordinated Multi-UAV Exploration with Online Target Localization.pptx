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verpass Medium" charset="1" panose="00000000000000000000"/>
      <p:regular r:id="rId16"/>
    </p:embeddedFont>
    <p:embeddedFont>
      <p:font typeface="Assistant" charset="1" panose="00000500000000000000"/>
      <p:regular r:id="rId17"/>
    </p:embeddedFont>
    <p:embeddedFont>
      <p:font typeface="Assistant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3906" y="2858779"/>
            <a:ext cx="1247811" cy="1247811"/>
          </a:xfrm>
          <a:custGeom>
            <a:avLst/>
            <a:gdLst/>
            <a:ahLst/>
            <a:cxnLst/>
            <a:rect r="r" b="b" t="t" l="l"/>
            <a:pathLst>
              <a:path h="1247811" w="1247811">
                <a:moveTo>
                  <a:pt x="0" y="0"/>
                </a:moveTo>
                <a:lnTo>
                  <a:pt x="1247812" y="0"/>
                </a:lnTo>
                <a:lnTo>
                  <a:pt x="1247812" y="1247811"/>
                </a:lnTo>
                <a:lnTo>
                  <a:pt x="0" y="1247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7385499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261459">
            <a:off x="10187124" y="-4688922"/>
            <a:ext cx="4275531" cy="7441588"/>
          </a:xfrm>
          <a:custGeom>
            <a:avLst/>
            <a:gdLst/>
            <a:ahLst/>
            <a:cxnLst/>
            <a:rect r="r" b="b" t="t" l="l"/>
            <a:pathLst>
              <a:path h="7441588" w="4275531">
                <a:moveTo>
                  <a:pt x="0" y="0"/>
                </a:moveTo>
                <a:lnTo>
                  <a:pt x="4275531" y="0"/>
                </a:lnTo>
                <a:lnTo>
                  <a:pt x="4275531" y="7441588"/>
                </a:lnTo>
                <a:lnTo>
                  <a:pt x="0" y="7441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0012" y="2716765"/>
            <a:ext cx="11549159" cy="159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5700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Coordinated Multi-UAV Exploration and Target Localization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616068" y="5866502"/>
            <a:ext cx="6446445" cy="2547697"/>
          </a:xfrm>
          <a:custGeom>
            <a:avLst/>
            <a:gdLst/>
            <a:ahLst/>
            <a:cxnLst/>
            <a:rect r="r" b="b" t="t" l="l"/>
            <a:pathLst>
              <a:path h="2547697" w="6446445">
                <a:moveTo>
                  <a:pt x="0" y="0"/>
                </a:moveTo>
                <a:lnTo>
                  <a:pt x="6446445" y="0"/>
                </a:lnTo>
                <a:lnTo>
                  <a:pt x="6446445" y="2547697"/>
                </a:lnTo>
                <a:lnTo>
                  <a:pt x="0" y="2547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675" t="-113390" r="-22758" b="-41976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839291" y="3486391"/>
            <a:ext cx="4415591" cy="1745084"/>
          </a:xfrm>
          <a:custGeom>
            <a:avLst/>
            <a:gdLst/>
            <a:ahLst/>
            <a:cxnLst/>
            <a:rect r="r" b="b" t="t" l="l"/>
            <a:pathLst>
              <a:path h="1745084" w="4415591">
                <a:moveTo>
                  <a:pt x="4415591" y="0"/>
                </a:moveTo>
                <a:lnTo>
                  <a:pt x="0" y="0"/>
                </a:lnTo>
                <a:lnTo>
                  <a:pt x="0" y="1745084"/>
                </a:lnTo>
                <a:lnTo>
                  <a:pt x="4415591" y="1745084"/>
                </a:lnTo>
                <a:lnTo>
                  <a:pt x="4415591" y="0"/>
                </a:lnTo>
                <a:close/>
              </a:path>
            </a:pathLst>
          </a:custGeom>
          <a:blipFill>
            <a:blip r:embed="rId7"/>
            <a:stretch>
              <a:fillRect l="-7675" t="-113390" r="-22758" b="-4197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4368" y="5833100"/>
            <a:ext cx="7421513" cy="103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237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An AI Framework for</a:t>
            </a:r>
            <a:r>
              <a:rPr lang="en-US" sz="237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Autonomous Mapping of Unknown Environments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2487" y="7929501"/>
            <a:ext cx="2135188" cy="109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Adarsh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M.Sai Amirthesh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44880" y="-160174"/>
            <a:ext cx="9943120" cy="10447174"/>
          </a:xfrm>
          <a:custGeom>
            <a:avLst/>
            <a:gdLst/>
            <a:ahLst/>
            <a:cxnLst/>
            <a:rect r="r" b="b" t="t" l="l"/>
            <a:pathLst>
              <a:path h="10447174" w="9943120">
                <a:moveTo>
                  <a:pt x="0" y="0"/>
                </a:moveTo>
                <a:lnTo>
                  <a:pt x="9943120" y="0"/>
                </a:lnTo>
                <a:lnTo>
                  <a:pt x="9943120" y="10447174"/>
                </a:lnTo>
                <a:lnTo>
                  <a:pt x="0" y="1044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4" t="0" r="-253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76545">
            <a:off x="15127118" y="-2858321"/>
            <a:ext cx="3526485" cy="7852497"/>
          </a:xfrm>
          <a:custGeom>
            <a:avLst/>
            <a:gdLst/>
            <a:ahLst/>
            <a:cxnLst/>
            <a:rect r="r" b="b" t="t" l="l"/>
            <a:pathLst>
              <a:path h="7852497" w="3526485">
                <a:moveTo>
                  <a:pt x="0" y="0"/>
                </a:moveTo>
                <a:lnTo>
                  <a:pt x="3526485" y="0"/>
                </a:lnTo>
                <a:lnTo>
                  <a:pt x="3526485" y="7852497"/>
                </a:lnTo>
                <a:lnTo>
                  <a:pt x="0" y="785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103866" y="5582211"/>
            <a:ext cx="3446904" cy="3398336"/>
            <a:chOff x="0" y="0"/>
            <a:chExt cx="837103" cy="8253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7103" cy="825308"/>
            </a:xfrm>
            <a:custGeom>
              <a:avLst/>
              <a:gdLst/>
              <a:ahLst/>
              <a:cxnLst/>
              <a:rect r="r" b="b" t="t" l="l"/>
              <a:pathLst>
                <a:path h="825308" w="837103">
                  <a:moveTo>
                    <a:pt x="42113" y="0"/>
                  </a:moveTo>
                  <a:lnTo>
                    <a:pt x="794989" y="0"/>
                  </a:lnTo>
                  <a:cubicBezTo>
                    <a:pt x="818248" y="0"/>
                    <a:pt x="837103" y="18855"/>
                    <a:pt x="837103" y="42113"/>
                  </a:cubicBezTo>
                  <a:lnTo>
                    <a:pt x="837103" y="783194"/>
                  </a:lnTo>
                  <a:cubicBezTo>
                    <a:pt x="837103" y="806453"/>
                    <a:pt x="818248" y="825308"/>
                    <a:pt x="794989" y="825308"/>
                  </a:cubicBezTo>
                  <a:lnTo>
                    <a:pt x="42113" y="825308"/>
                  </a:lnTo>
                  <a:cubicBezTo>
                    <a:pt x="18855" y="825308"/>
                    <a:pt x="0" y="806453"/>
                    <a:pt x="0" y="783194"/>
                  </a:cubicBezTo>
                  <a:lnTo>
                    <a:pt x="0" y="42113"/>
                  </a:lnTo>
                  <a:cubicBezTo>
                    <a:pt x="0" y="18855"/>
                    <a:pt x="18855" y="0"/>
                    <a:pt x="42113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837103" cy="815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21970" y="3246869"/>
            <a:ext cx="1199046" cy="1199046"/>
          </a:xfrm>
          <a:custGeom>
            <a:avLst/>
            <a:gdLst/>
            <a:ahLst/>
            <a:cxnLst/>
            <a:rect r="r" b="b" t="t" l="l"/>
            <a:pathLst>
              <a:path h="1199046" w="1199046">
                <a:moveTo>
                  <a:pt x="0" y="0"/>
                </a:moveTo>
                <a:lnTo>
                  <a:pt x="1199046" y="0"/>
                </a:lnTo>
                <a:lnTo>
                  <a:pt x="1199046" y="1199046"/>
                </a:lnTo>
                <a:lnTo>
                  <a:pt x="0" y="1199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9697"/>
            <a:ext cx="1305662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Why</a:t>
            </a:r>
            <a:r>
              <a:rPr lang="en-US" b="true" sz="6000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 d</a:t>
            </a:r>
            <a:r>
              <a:rPr lang="en-US" b="true" sz="6000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o we need Multi-UAV Systems?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5397" y="3508818"/>
            <a:ext cx="4401269" cy="342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9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Explore the environment</a:t>
            </a:r>
          </a:p>
          <a:p>
            <a:pPr algn="l" marL="474978" indent="-237489" lvl="1">
              <a:lnSpc>
                <a:spcPts val="39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Avoid obstacles</a:t>
            </a:r>
          </a:p>
          <a:p>
            <a:pPr algn="l" marL="474978" indent="-237489" lvl="1">
              <a:lnSpc>
                <a:spcPts val="39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Build a map</a:t>
            </a:r>
          </a:p>
          <a:p>
            <a:pPr algn="l" marL="474978" indent="-237489" lvl="1">
              <a:lnSpc>
                <a:spcPts val="39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Detect important objects</a:t>
            </a:r>
          </a:p>
          <a:p>
            <a:pPr algn="l" marL="474978" indent="-237489" lvl="1">
              <a:lnSpc>
                <a:spcPts val="39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Share information with each other</a:t>
            </a: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45397" y="2872747"/>
            <a:ext cx="365918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The</a:t>
            </a:r>
            <a:r>
              <a:rPr lang="en-US" b="true" sz="2999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drones must: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87077" y="5821197"/>
            <a:ext cx="2880482" cy="282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This h</a:t>
            </a:r>
            <a:r>
              <a:rPr lang="en-US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as applications in: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Environmental Mapping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Infrastructure Inspection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Disaster Assessment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Agriculture</a:t>
            </a:r>
          </a:p>
          <a:p>
            <a:pPr algn="l" marL="388620" indent="-194310" lvl="1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Industrial Inspection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05103">
            <a:off x="-2923488" y="4739113"/>
            <a:ext cx="3503171" cy="3541809"/>
          </a:xfrm>
          <a:custGeom>
            <a:avLst/>
            <a:gdLst/>
            <a:ahLst/>
            <a:cxnLst/>
            <a:rect r="r" b="b" t="t" l="l"/>
            <a:pathLst>
              <a:path h="3541809" w="3503171">
                <a:moveTo>
                  <a:pt x="0" y="0"/>
                </a:moveTo>
                <a:lnTo>
                  <a:pt x="3503171" y="0"/>
                </a:lnTo>
                <a:lnTo>
                  <a:pt x="3503171" y="3541809"/>
                </a:lnTo>
                <a:lnTo>
                  <a:pt x="0" y="354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0886" y="3090973"/>
            <a:ext cx="5471337" cy="164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7"/>
              </a:lnSpc>
            </a:pPr>
            <a:r>
              <a:rPr lang="en-US" sz="2748" b="true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C</a:t>
            </a:r>
            <a:r>
              <a:rPr lang="en-US" b="true" sz="2748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urrent multi-UAV systems face several challenges:</a:t>
            </a:r>
          </a:p>
          <a:p>
            <a:pPr algn="l">
              <a:lnSpc>
                <a:spcPts val="350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0756726" y="-306822"/>
            <a:ext cx="1067927" cy="1067927"/>
          </a:xfrm>
          <a:custGeom>
            <a:avLst/>
            <a:gdLst/>
            <a:ahLst/>
            <a:cxnLst/>
            <a:rect r="r" b="b" t="t" l="l"/>
            <a:pathLst>
              <a:path h="1067927" w="1067927">
                <a:moveTo>
                  <a:pt x="0" y="0"/>
                </a:moveTo>
                <a:lnTo>
                  <a:pt x="1067927" y="0"/>
                </a:lnTo>
                <a:lnTo>
                  <a:pt x="1067927" y="1067927"/>
                </a:lnTo>
                <a:lnTo>
                  <a:pt x="0" y="1067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7222159" y="3753796"/>
            <a:ext cx="1065841" cy="1065841"/>
          </a:xfrm>
          <a:custGeom>
            <a:avLst/>
            <a:gdLst/>
            <a:ahLst/>
            <a:cxnLst/>
            <a:rect r="r" b="b" t="t" l="l"/>
            <a:pathLst>
              <a:path h="1065841" w="1065841">
                <a:moveTo>
                  <a:pt x="0" y="0"/>
                </a:moveTo>
                <a:lnTo>
                  <a:pt x="1065841" y="0"/>
                </a:lnTo>
                <a:lnTo>
                  <a:pt x="1065841" y="1065841"/>
                </a:lnTo>
                <a:lnTo>
                  <a:pt x="0" y="1065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012983" y="-195702"/>
            <a:ext cx="9619043" cy="2825548"/>
          </a:xfrm>
          <a:custGeom>
            <a:avLst/>
            <a:gdLst/>
            <a:ahLst/>
            <a:cxnLst/>
            <a:rect r="r" b="b" t="t" l="l"/>
            <a:pathLst>
              <a:path h="2825548" w="9619043">
                <a:moveTo>
                  <a:pt x="9619043" y="0"/>
                </a:moveTo>
                <a:lnTo>
                  <a:pt x="0" y="0"/>
                </a:lnTo>
                <a:lnTo>
                  <a:pt x="0" y="2825548"/>
                </a:lnTo>
                <a:lnTo>
                  <a:pt x="9619043" y="2825548"/>
                </a:lnTo>
                <a:lnTo>
                  <a:pt x="9619043" y="0"/>
                </a:lnTo>
                <a:close/>
              </a:path>
            </a:pathLst>
          </a:custGeom>
          <a:blipFill>
            <a:blip r:embed="rId6"/>
            <a:stretch>
              <a:fillRect l="-7073" t="-107723" r="-35980" b="-11723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10886" y="4669782"/>
            <a:ext cx="6319841" cy="4320683"/>
            <a:chOff x="0" y="0"/>
            <a:chExt cx="8426455" cy="576091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426455" cy="1259057"/>
              <a:chOff x="0" y="0"/>
              <a:chExt cx="1300379" cy="19429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00379" cy="194299"/>
              </a:xfrm>
              <a:custGeom>
                <a:avLst/>
                <a:gdLst/>
                <a:ahLst/>
                <a:cxnLst/>
                <a:rect r="r" b="b" t="t" l="l"/>
                <a:pathLst>
                  <a:path h="194299" w="1300379">
                    <a:moveTo>
                      <a:pt x="23926" y="0"/>
                    </a:moveTo>
                    <a:lnTo>
                      <a:pt x="1276453" y="0"/>
                    </a:lnTo>
                    <a:cubicBezTo>
                      <a:pt x="1282798" y="0"/>
                      <a:pt x="1288884" y="2521"/>
                      <a:pt x="1293371" y="7008"/>
                    </a:cubicBezTo>
                    <a:cubicBezTo>
                      <a:pt x="1297858" y="11495"/>
                      <a:pt x="1300379" y="17581"/>
                      <a:pt x="1300379" y="23926"/>
                    </a:cubicBezTo>
                    <a:lnTo>
                      <a:pt x="1300379" y="170373"/>
                    </a:lnTo>
                    <a:cubicBezTo>
                      <a:pt x="1300379" y="183587"/>
                      <a:pt x="1289667" y="194299"/>
                      <a:pt x="1276453" y="194299"/>
                    </a:cubicBezTo>
                    <a:lnTo>
                      <a:pt x="23926" y="194299"/>
                    </a:lnTo>
                    <a:cubicBezTo>
                      <a:pt x="10712" y="194299"/>
                      <a:pt x="0" y="183587"/>
                      <a:pt x="0" y="170373"/>
                    </a:cubicBezTo>
                    <a:lnTo>
                      <a:pt x="0" y="23926"/>
                    </a:lnTo>
                    <a:cubicBezTo>
                      <a:pt x="0" y="17581"/>
                      <a:pt x="2521" y="11495"/>
                      <a:pt x="7008" y="7008"/>
                    </a:cubicBezTo>
                    <a:cubicBezTo>
                      <a:pt x="11495" y="2521"/>
                      <a:pt x="17581" y="0"/>
                      <a:pt x="23926" y="0"/>
                    </a:cubicBezTo>
                    <a:close/>
                  </a:path>
                </a:pathLst>
              </a:custGeom>
              <a:solidFill>
                <a:srgbClr val="D65A3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1300379" cy="1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501140"/>
              <a:ext cx="8426455" cy="1259057"/>
              <a:chOff x="0" y="0"/>
              <a:chExt cx="1300379" cy="19429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00379" cy="194299"/>
              </a:xfrm>
              <a:custGeom>
                <a:avLst/>
                <a:gdLst/>
                <a:ahLst/>
                <a:cxnLst/>
                <a:rect r="r" b="b" t="t" l="l"/>
                <a:pathLst>
                  <a:path h="194299" w="1300379">
                    <a:moveTo>
                      <a:pt x="23926" y="0"/>
                    </a:moveTo>
                    <a:lnTo>
                      <a:pt x="1276453" y="0"/>
                    </a:lnTo>
                    <a:cubicBezTo>
                      <a:pt x="1282798" y="0"/>
                      <a:pt x="1288884" y="2521"/>
                      <a:pt x="1293371" y="7008"/>
                    </a:cubicBezTo>
                    <a:cubicBezTo>
                      <a:pt x="1297858" y="11495"/>
                      <a:pt x="1300379" y="17581"/>
                      <a:pt x="1300379" y="23926"/>
                    </a:cubicBezTo>
                    <a:lnTo>
                      <a:pt x="1300379" y="170373"/>
                    </a:lnTo>
                    <a:cubicBezTo>
                      <a:pt x="1300379" y="183587"/>
                      <a:pt x="1289667" y="194299"/>
                      <a:pt x="1276453" y="194299"/>
                    </a:cubicBezTo>
                    <a:lnTo>
                      <a:pt x="23926" y="194299"/>
                    </a:lnTo>
                    <a:cubicBezTo>
                      <a:pt x="10712" y="194299"/>
                      <a:pt x="0" y="183587"/>
                      <a:pt x="0" y="170373"/>
                    </a:cubicBezTo>
                    <a:lnTo>
                      <a:pt x="0" y="23926"/>
                    </a:lnTo>
                    <a:cubicBezTo>
                      <a:pt x="0" y="17581"/>
                      <a:pt x="2521" y="11495"/>
                      <a:pt x="7008" y="7008"/>
                    </a:cubicBezTo>
                    <a:cubicBezTo>
                      <a:pt x="11495" y="2521"/>
                      <a:pt x="17581" y="0"/>
                      <a:pt x="23926" y="0"/>
                    </a:cubicBezTo>
                    <a:close/>
                  </a:path>
                </a:pathLst>
              </a:custGeom>
              <a:solidFill>
                <a:srgbClr val="D65A3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1300379" cy="1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3001497"/>
              <a:ext cx="8426455" cy="1259057"/>
              <a:chOff x="0" y="0"/>
              <a:chExt cx="1300379" cy="19429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00379" cy="194299"/>
              </a:xfrm>
              <a:custGeom>
                <a:avLst/>
                <a:gdLst/>
                <a:ahLst/>
                <a:cxnLst/>
                <a:rect r="r" b="b" t="t" l="l"/>
                <a:pathLst>
                  <a:path h="194299" w="1300379">
                    <a:moveTo>
                      <a:pt x="23926" y="0"/>
                    </a:moveTo>
                    <a:lnTo>
                      <a:pt x="1276453" y="0"/>
                    </a:lnTo>
                    <a:cubicBezTo>
                      <a:pt x="1282798" y="0"/>
                      <a:pt x="1288884" y="2521"/>
                      <a:pt x="1293371" y="7008"/>
                    </a:cubicBezTo>
                    <a:cubicBezTo>
                      <a:pt x="1297858" y="11495"/>
                      <a:pt x="1300379" y="17581"/>
                      <a:pt x="1300379" y="23926"/>
                    </a:cubicBezTo>
                    <a:lnTo>
                      <a:pt x="1300379" y="170373"/>
                    </a:lnTo>
                    <a:cubicBezTo>
                      <a:pt x="1300379" y="183587"/>
                      <a:pt x="1289667" y="194299"/>
                      <a:pt x="1276453" y="194299"/>
                    </a:cubicBezTo>
                    <a:lnTo>
                      <a:pt x="23926" y="194299"/>
                    </a:lnTo>
                    <a:cubicBezTo>
                      <a:pt x="10712" y="194299"/>
                      <a:pt x="0" y="183587"/>
                      <a:pt x="0" y="170373"/>
                    </a:cubicBezTo>
                    <a:lnTo>
                      <a:pt x="0" y="23926"/>
                    </a:lnTo>
                    <a:cubicBezTo>
                      <a:pt x="0" y="17581"/>
                      <a:pt x="2521" y="11495"/>
                      <a:pt x="7008" y="7008"/>
                    </a:cubicBezTo>
                    <a:cubicBezTo>
                      <a:pt x="11495" y="2521"/>
                      <a:pt x="17581" y="0"/>
                      <a:pt x="23926" y="0"/>
                    </a:cubicBezTo>
                    <a:close/>
                  </a:path>
                </a:pathLst>
              </a:custGeom>
              <a:solidFill>
                <a:srgbClr val="D65A3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0"/>
                <a:ext cx="1300379" cy="1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417297" y="408940"/>
              <a:ext cx="6830449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Bo</a:t>
              </a:r>
              <a:r>
                <a:rPr lang="en-US" sz="23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th</a:t>
              </a:r>
              <a:r>
                <a:rPr lang="en-US" sz="23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UAVs may explore the same area.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28624" y="280853"/>
              <a:ext cx="8986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01.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73769" y="1805957"/>
              <a:ext cx="6641405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Obj</a:t>
              </a:r>
              <a:r>
                <a:rPr lang="en-US" sz="20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ect detections are not linked to the generated map.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5096" y="1819358"/>
              <a:ext cx="8986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02.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73769" y="3250075"/>
              <a:ext cx="6454667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Explo</a:t>
              </a:r>
              <a:r>
                <a:rPr lang="en-US" sz="20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ration and object detection work independently.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18203" y="3318997"/>
              <a:ext cx="965517" cy="654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67"/>
                </a:lnSpc>
              </a:pPr>
              <a:r>
                <a:rPr lang="en-US" b="true" sz="3223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03.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4501854"/>
              <a:ext cx="8426455" cy="1259057"/>
              <a:chOff x="0" y="0"/>
              <a:chExt cx="1300379" cy="19429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00379" cy="194299"/>
              </a:xfrm>
              <a:custGeom>
                <a:avLst/>
                <a:gdLst/>
                <a:ahLst/>
                <a:cxnLst/>
                <a:rect r="r" b="b" t="t" l="l"/>
                <a:pathLst>
                  <a:path h="194299" w="1300379">
                    <a:moveTo>
                      <a:pt x="23926" y="0"/>
                    </a:moveTo>
                    <a:lnTo>
                      <a:pt x="1276453" y="0"/>
                    </a:lnTo>
                    <a:cubicBezTo>
                      <a:pt x="1282798" y="0"/>
                      <a:pt x="1288884" y="2521"/>
                      <a:pt x="1293371" y="7008"/>
                    </a:cubicBezTo>
                    <a:cubicBezTo>
                      <a:pt x="1297858" y="11495"/>
                      <a:pt x="1300379" y="17581"/>
                      <a:pt x="1300379" y="23926"/>
                    </a:cubicBezTo>
                    <a:lnTo>
                      <a:pt x="1300379" y="170373"/>
                    </a:lnTo>
                    <a:cubicBezTo>
                      <a:pt x="1300379" y="183587"/>
                      <a:pt x="1289667" y="194299"/>
                      <a:pt x="1276453" y="194299"/>
                    </a:cubicBezTo>
                    <a:lnTo>
                      <a:pt x="23926" y="194299"/>
                    </a:lnTo>
                    <a:cubicBezTo>
                      <a:pt x="10712" y="194299"/>
                      <a:pt x="0" y="183587"/>
                      <a:pt x="0" y="170373"/>
                    </a:cubicBezTo>
                    <a:lnTo>
                      <a:pt x="0" y="23926"/>
                    </a:lnTo>
                    <a:cubicBezTo>
                      <a:pt x="0" y="17581"/>
                      <a:pt x="2521" y="11495"/>
                      <a:pt x="7008" y="7008"/>
                    </a:cubicBezTo>
                    <a:cubicBezTo>
                      <a:pt x="11495" y="2521"/>
                      <a:pt x="17581" y="0"/>
                      <a:pt x="23926" y="0"/>
                    </a:cubicBezTo>
                    <a:close/>
                  </a:path>
                </a:pathLst>
              </a:custGeom>
              <a:solidFill>
                <a:srgbClr val="D65A3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0"/>
                <a:ext cx="1300379" cy="1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71566" y="4809829"/>
              <a:ext cx="8986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04.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417297" y="4743154"/>
              <a:ext cx="6454667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L</a:t>
              </a:r>
              <a:r>
                <a:rPr lang="en-US" sz="2099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ack of efficient coordination between UAVs.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82089" y="1241687"/>
            <a:ext cx="9334451" cy="110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4"/>
              </a:lnSpc>
            </a:pPr>
            <a:r>
              <a:rPr lang="en-US" sz="7337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P</a:t>
            </a:r>
            <a:r>
              <a:rPr lang="en-US" b="true" sz="733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rob</a:t>
            </a:r>
            <a:r>
              <a:rPr lang="en-US" b="true" sz="7337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lem Statement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86030" y="5053624"/>
            <a:ext cx="5081253" cy="336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Result</a:t>
            </a:r>
          </a:p>
          <a:p>
            <a:pPr algn="l" marL="541690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Wasted flight time</a:t>
            </a:r>
          </a:p>
          <a:p>
            <a:pPr algn="l" marL="541690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Redundant coverage</a:t>
            </a:r>
          </a:p>
          <a:p>
            <a:pPr algn="l" marL="541690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Inefficient mapping</a:t>
            </a:r>
          </a:p>
          <a:p>
            <a:pPr algn="l" marL="541690" indent="-270845" lvl="1">
              <a:lnSpc>
                <a:spcPts val="4516"/>
              </a:lnSpc>
              <a:buFont typeface="Arial"/>
              <a:buChar char="•"/>
            </a:pPr>
            <a:r>
              <a:rPr lang="en-US" sz="2508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Poor situational awareness</a:t>
            </a:r>
          </a:p>
          <a:p>
            <a:pPr algn="l">
              <a:lnSpc>
                <a:spcPts val="451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458120">
            <a:off x="11845610" y="-2125317"/>
            <a:ext cx="8273273" cy="4828583"/>
          </a:xfrm>
          <a:custGeom>
            <a:avLst/>
            <a:gdLst/>
            <a:ahLst/>
            <a:cxnLst/>
            <a:rect r="r" b="b" t="t" l="l"/>
            <a:pathLst>
              <a:path h="4828583" w="8273273">
                <a:moveTo>
                  <a:pt x="0" y="0"/>
                </a:moveTo>
                <a:lnTo>
                  <a:pt x="8273273" y="0"/>
                </a:lnTo>
                <a:lnTo>
                  <a:pt x="8273273" y="4828583"/>
                </a:lnTo>
                <a:lnTo>
                  <a:pt x="0" y="4828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0834" y="3396559"/>
            <a:ext cx="8154313" cy="3222663"/>
          </a:xfrm>
          <a:custGeom>
            <a:avLst/>
            <a:gdLst/>
            <a:ahLst/>
            <a:cxnLst/>
            <a:rect r="r" b="b" t="t" l="l"/>
            <a:pathLst>
              <a:path h="3222663" w="8154313">
                <a:moveTo>
                  <a:pt x="0" y="0"/>
                </a:moveTo>
                <a:lnTo>
                  <a:pt x="8154313" y="0"/>
                </a:lnTo>
                <a:lnTo>
                  <a:pt x="8154313" y="3222662"/>
                </a:lnTo>
                <a:lnTo>
                  <a:pt x="0" y="3222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75" t="-113390" r="-22758" b="-419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5997" y="3987511"/>
            <a:ext cx="1358561" cy="1358561"/>
          </a:xfrm>
          <a:custGeom>
            <a:avLst/>
            <a:gdLst/>
            <a:ahLst/>
            <a:cxnLst/>
            <a:rect r="r" b="b" t="t" l="l"/>
            <a:pathLst>
              <a:path h="1358561" w="1358561">
                <a:moveTo>
                  <a:pt x="0" y="0"/>
                </a:moveTo>
                <a:lnTo>
                  <a:pt x="1358561" y="0"/>
                </a:lnTo>
                <a:lnTo>
                  <a:pt x="1358561" y="1358561"/>
                </a:lnTo>
                <a:lnTo>
                  <a:pt x="0" y="1358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78882" y="7814237"/>
            <a:ext cx="1109118" cy="1109118"/>
          </a:xfrm>
          <a:custGeom>
            <a:avLst/>
            <a:gdLst/>
            <a:ahLst/>
            <a:cxnLst/>
            <a:rect r="r" b="b" t="t" l="l"/>
            <a:pathLst>
              <a:path h="1109118" w="1109118">
                <a:moveTo>
                  <a:pt x="0" y="0"/>
                </a:moveTo>
                <a:lnTo>
                  <a:pt x="1109118" y="0"/>
                </a:lnTo>
                <a:lnTo>
                  <a:pt x="1109118" y="1109119"/>
                </a:lnTo>
                <a:lnTo>
                  <a:pt x="0" y="1109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8037" y="1990142"/>
            <a:ext cx="3827784" cy="2223802"/>
          </a:xfrm>
          <a:custGeom>
            <a:avLst/>
            <a:gdLst/>
            <a:ahLst/>
            <a:cxnLst/>
            <a:rect r="r" b="b" t="t" l="l"/>
            <a:pathLst>
              <a:path h="2223802" w="3827784">
                <a:moveTo>
                  <a:pt x="0" y="0"/>
                </a:moveTo>
                <a:lnTo>
                  <a:pt x="3827784" y="0"/>
                </a:lnTo>
                <a:lnTo>
                  <a:pt x="3827784" y="2223802"/>
                </a:lnTo>
                <a:lnTo>
                  <a:pt x="0" y="22238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2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4106" y="656642"/>
            <a:ext cx="621960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</a:t>
            </a:r>
            <a:r>
              <a:rPr lang="en-US" b="true" sz="6000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esearch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024" y="2630803"/>
            <a:ext cx="3331845" cy="53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b="true" sz="26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Ex</a:t>
            </a:r>
            <a:r>
              <a:rPr lang="en-US" b="true" sz="26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ploration Algorithms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51294" y="2321320"/>
            <a:ext cx="4807426" cy="1666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B</a:t>
            </a: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uild maps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✖ Cannot localize detected objects.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8055" y="7256895"/>
            <a:ext cx="3827784" cy="2223802"/>
          </a:xfrm>
          <a:custGeom>
            <a:avLst/>
            <a:gdLst/>
            <a:ahLst/>
            <a:cxnLst/>
            <a:rect r="r" b="b" t="t" l="l"/>
            <a:pathLst>
              <a:path h="2223802" w="3827784">
                <a:moveTo>
                  <a:pt x="0" y="0"/>
                </a:moveTo>
                <a:lnTo>
                  <a:pt x="3827783" y="0"/>
                </a:lnTo>
                <a:lnTo>
                  <a:pt x="3827783" y="2223802"/>
                </a:lnTo>
                <a:lnTo>
                  <a:pt x="0" y="22238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8055" y="4623519"/>
            <a:ext cx="3827784" cy="2223802"/>
          </a:xfrm>
          <a:custGeom>
            <a:avLst/>
            <a:gdLst/>
            <a:ahLst/>
            <a:cxnLst/>
            <a:rect r="r" b="b" t="t" l="l"/>
            <a:pathLst>
              <a:path h="2223802" w="3827784">
                <a:moveTo>
                  <a:pt x="0" y="0"/>
                </a:moveTo>
                <a:lnTo>
                  <a:pt x="3827783" y="0"/>
                </a:lnTo>
                <a:lnTo>
                  <a:pt x="3827783" y="2223801"/>
                </a:lnTo>
                <a:lnTo>
                  <a:pt x="0" y="2223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2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8055" y="5203197"/>
            <a:ext cx="3827784" cy="52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6"/>
              </a:lnSpc>
              <a:spcBef>
                <a:spcPct val="0"/>
              </a:spcBef>
            </a:pPr>
            <a:r>
              <a:rPr lang="en-US" b="true" sz="25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Object Detecti</a:t>
            </a:r>
            <a:r>
              <a:rPr lang="en-US" b="true" sz="25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on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51294" y="4631697"/>
            <a:ext cx="3783489" cy="1666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Detect </a:t>
            </a: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objects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✖ Do not assist exploration.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84106" y="8026239"/>
            <a:ext cx="3535680" cy="565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  <a:spcBef>
                <a:spcPct val="0"/>
              </a:spcBef>
            </a:pPr>
            <a:r>
              <a:rPr lang="en-US" b="true" sz="27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M</a:t>
            </a:r>
            <a:r>
              <a:rPr lang="en-US" b="true" sz="2708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ulti-UAV Coordination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1294" y="7480456"/>
            <a:ext cx="5886291" cy="1666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C</a:t>
            </a: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oordinate movement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  <a:r>
              <a:rPr lang="en-US" sz="2508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✖ Lack integrated mapping and perception.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9047">
            <a:off x="7314560" y="-2441997"/>
            <a:ext cx="4888648" cy="3430942"/>
          </a:xfrm>
          <a:custGeom>
            <a:avLst/>
            <a:gdLst/>
            <a:ahLst/>
            <a:cxnLst/>
            <a:rect r="r" b="b" t="t" l="l"/>
            <a:pathLst>
              <a:path h="3430942" w="4888648">
                <a:moveTo>
                  <a:pt x="0" y="0"/>
                </a:moveTo>
                <a:lnTo>
                  <a:pt x="4888648" y="0"/>
                </a:lnTo>
                <a:lnTo>
                  <a:pt x="4888648" y="3430942"/>
                </a:lnTo>
                <a:lnTo>
                  <a:pt x="0" y="3430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1628" y="439654"/>
            <a:ext cx="6333753" cy="3808169"/>
          </a:xfrm>
          <a:custGeom>
            <a:avLst/>
            <a:gdLst/>
            <a:ahLst/>
            <a:cxnLst/>
            <a:rect r="r" b="b" t="t" l="l"/>
            <a:pathLst>
              <a:path h="3808169" w="6333753">
                <a:moveTo>
                  <a:pt x="0" y="0"/>
                </a:moveTo>
                <a:lnTo>
                  <a:pt x="6333753" y="0"/>
                </a:lnTo>
                <a:lnTo>
                  <a:pt x="6333753" y="3808169"/>
                </a:lnTo>
                <a:lnTo>
                  <a:pt x="0" y="3808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1812" y="1114312"/>
            <a:ext cx="5217245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Ou</a:t>
            </a:r>
            <a:r>
              <a:rPr lang="en-US" b="true" sz="6000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</a:t>
            </a:r>
            <a:r>
              <a:rPr lang="en-US" b="true" sz="6000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 Proposed Framework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1812" y="3651584"/>
            <a:ext cx="1069329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Ut</a:t>
            </a:r>
            <a:r>
              <a:rPr lang="en-US" b="true" sz="3099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ility-Dr</a:t>
            </a:r>
            <a:r>
              <a:rPr lang="en-US" b="true" sz="3099">
                <a:solidFill>
                  <a:srgbClr val="FFFFF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iven Coordinated Multi-UAV Exploration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9269" y="4423724"/>
            <a:ext cx="8471296" cy="51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2"/>
              </a:lnSpc>
            </a:pPr>
            <a:r>
              <a:rPr lang="en-US" sz="286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that combines</a:t>
            </a:r>
          </a:p>
          <a:p>
            <a:pPr algn="l" marL="619172" indent="-309586" lvl="1">
              <a:lnSpc>
                <a:spcPts val="5162"/>
              </a:lnSpc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Autonomous Exploration</a:t>
            </a:r>
          </a:p>
          <a:p>
            <a:pPr algn="l" marL="619172" indent="-309586" lvl="1">
              <a:lnSpc>
                <a:spcPts val="5162"/>
              </a:lnSpc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Occupancy Mapping</a:t>
            </a:r>
          </a:p>
          <a:p>
            <a:pPr algn="l" marL="619172" indent="-309586" lvl="1">
              <a:lnSpc>
                <a:spcPts val="5162"/>
              </a:lnSpc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Utility-Based Frontier Allocation</a:t>
            </a:r>
          </a:p>
          <a:p>
            <a:pPr algn="l" marL="619172" indent="-309586" lvl="1">
              <a:lnSpc>
                <a:spcPts val="5162"/>
              </a:lnSpc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Online Target Localization</a:t>
            </a:r>
          </a:p>
          <a:p>
            <a:pPr algn="l" marL="619172" indent="-309586" lvl="1">
              <a:lnSpc>
                <a:spcPts val="5162"/>
              </a:lnSpc>
              <a:buFont typeface="Arial"/>
              <a:buChar char="•"/>
            </a:pPr>
            <a:r>
              <a:rPr lang="en-US" sz="286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Shared World Model</a:t>
            </a:r>
          </a:p>
          <a:p>
            <a:pPr algn="l">
              <a:lnSpc>
                <a:spcPts val="5162"/>
              </a:lnSpc>
            </a:pPr>
            <a:r>
              <a:rPr lang="en-US" sz="286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into a single pipeline.</a:t>
            </a:r>
          </a:p>
          <a:p>
            <a:pPr algn="l">
              <a:lnSpc>
                <a:spcPts val="5162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5365168"/>
            <a:ext cx="1022406" cy="1022406"/>
          </a:xfrm>
          <a:custGeom>
            <a:avLst/>
            <a:gdLst/>
            <a:ahLst/>
            <a:cxnLst/>
            <a:rect r="r" b="b" t="t" l="l"/>
            <a:pathLst>
              <a:path h="1022406" w="1022406">
                <a:moveTo>
                  <a:pt x="0" y="0"/>
                </a:moveTo>
                <a:lnTo>
                  <a:pt x="1022406" y="0"/>
                </a:lnTo>
                <a:lnTo>
                  <a:pt x="1022406" y="1022406"/>
                </a:lnTo>
                <a:lnTo>
                  <a:pt x="0" y="102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86981" y="3461083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1"/>
                </a:lnTo>
                <a:lnTo>
                  <a:pt x="0" y="1028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133" y="-11144"/>
            <a:ext cx="18486133" cy="10453127"/>
          </a:xfrm>
          <a:custGeom>
            <a:avLst/>
            <a:gdLst/>
            <a:ahLst/>
            <a:cxnLst/>
            <a:rect r="r" b="b" t="t" l="l"/>
            <a:pathLst>
              <a:path h="10453127" w="18486133">
                <a:moveTo>
                  <a:pt x="0" y="0"/>
                </a:moveTo>
                <a:lnTo>
                  <a:pt x="18486133" y="0"/>
                </a:lnTo>
                <a:lnTo>
                  <a:pt x="18486133" y="10453127"/>
                </a:lnTo>
                <a:lnTo>
                  <a:pt x="0" y="10453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27" t="0" r="-309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7540" y="8126762"/>
            <a:ext cx="5129646" cy="6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9"/>
              </a:lnSpc>
            </a:pPr>
            <a:r>
              <a:rPr lang="en-US" sz="4557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Ov</a:t>
            </a:r>
            <a:r>
              <a:rPr lang="en-US" sz="4557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erall Workflow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22730" y="3785944"/>
            <a:ext cx="4752459" cy="2082441"/>
          </a:xfrm>
          <a:custGeom>
            <a:avLst/>
            <a:gdLst/>
            <a:ahLst/>
            <a:cxnLst/>
            <a:rect r="r" b="b" t="t" l="l"/>
            <a:pathLst>
              <a:path h="2082441" w="4752459">
                <a:moveTo>
                  <a:pt x="0" y="0"/>
                </a:moveTo>
                <a:lnTo>
                  <a:pt x="4752459" y="0"/>
                </a:lnTo>
                <a:lnTo>
                  <a:pt x="4752459" y="2082442"/>
                </a:lnTo>
                <a:lnTo>
                  <a:pt x="0" y="2082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55266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36682" y="16677"/>
            <a:ext cx="1051250" cy="1051250"/>
          </a:xfrm>
          <a:custGeom>
            <a:avLst/>
            <a:gdLst/>
            <a:ahLst/>
            <a:cxnLst/>
            <a:rect r="r" b="b" t="t" l="l"/>
            <a:pathLst>
              <a:path h="1051250" w="1051250">
                <a:moveTo>
                  <a:pt x="0" y="0"/>
                </a:moveTo>
                <a:lnTo>
                  <a:pt x="1051250" y="0"/>
                </a:lnTo>
                <a:lnTo>
                  <a:pt x="1051250" y="1051250"/>
                </a:lnTo>
                <a:lnTo>
                  <a:pt x="0" y="105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85957" y="2763270"/>
            <a:ext cx="7780594" cy="5622739"/>
            <a:chOff x="0" y="0"/>
            <a:chExt cx="10374125" cy="749698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74125" cy="7460992"/>
              <a:chOff x="0" y="0"/>
              <a:chExt cx="1481660" cy="106559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81660" cy="1065599"/>
              </a:xfrm>
              <a:custGeom>
                <a:avLst/>
                <a:gdLst/>
                <a:ahLst/>
                <a:cxnLst/>
                <a:rect r="r" b="b" t="t" l="l"/>
                <a:pathLst>
                  <a:path h="1065599" w="1481660">
                    <a:moveTo>
                      <a:pt x="23881" y="0"/>
                    </a:moveTo>
                    <a:lnTo>
                      <a:pt x="1457780" y="0"/>
                    </a:lnTo>
                    <a:cubicBezTo>
                      <a:pt x="1470969" y="0"/>
                      <a:pt x="1481660" y="10692"/>
                      <a:pt x="1481660" y="23881"/>
                    </a:cubicBezTo>
                    <a:lnTo>
                      <a:pt x="1481660" y="1041718"/>
                    </a:lnTo>
                    <a:cubicBezTo>
                      <a:pt x="1481660" y="1048052"/>
                      <a:pt x="1479144" y="1054126"/>
                      <a:pt x="1474666" y="1058604"/>
                    </a:cubicBezTo>
                    <a:cubicBezTo>
                      <a:pt x="1470187" y="1063083"/>
                      <a:pt x="1464113" y="1065599"/>
                      <a:pt x="1457780" y="1065599"/>
                    </a:cubicBezTo>
                    <a:lnTo>
                      <a:pt x="23881" y="1065599"/>
                    </a:lnTo>
                    <a:cubicBezTo>
                      <a:pt x="17547" y="1065599"/>
                      <a:pt x="11473" y="1063083"/>
                      <a:pt x="6994" y="1058604"/>
                    </a:cubicBezTo>
                    <a:cubicBezTo>
                      <a:pt x="2516" y="1054126"/>
                      <a:pt x="0" y="1048052"/>
                      <a:pt x="0" y="1041718"/>
                    </a:cubicBezTo>
                    <a:lnTo>
                      <a:pt x="0" y="23881"/>
                    </a:lnTo>
                    <a:cubicBezTo>
                      <a:pt x="0" y="17547"/>
                      <a:pt x="2516" y="11473"/>
                      <a:pt x="6994" y="6994"/>
                    </a:cubicBezTo>
                    <a:cubicBezTo>
                      <a:pt x="11473" y="2516"/>
                      <a:pt x="17547" y="0"/>
                      <a:pt x="23881" y="0"/>
                    </a:cubicBezTo>
                    <a:close/>
                  </a:path>
                </a:pathLst>
              </a:custGeom>
              <a:solidFill>
                <a:srgbClr val="D65A3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1481660" cy="1065599"/>
              </a:xfrm>
              <a:prstGeom prst="rect">
                <a:avLst/>
              </a:prstGeom>
            </p:spPr>
            <p:txBody>
              <a:bodyPr anchor="ctr" rtlCol="false" tIns="55823" lIns="55823" bIns="55823" rIns="55823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10919" y="-161925"/>
              <a:ext cx="8769857" cy="7658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42"/>
                </a:lnSpc>
              </a:pPr>
            </a:p>
            <a:p>
              <a:pPr algn="l" marL="616837" indent="-308419" lvl="1">
                <a:lnSpc>
                  <a:spcPts val="5142"/>
                </a:lnSpc>
                <a:buAutoNum type="arabicPeriod" startAt="1"/>
              </a:pPr>
              <a:r>
                <a:rPr lang="en-US" b="true" sz="2857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UAV collects LiDAR and Camera data.</a:t>
              </a:r>
            </a:p>
            <a:p>
              <a:pPr algn="l" marL="616837" indent="-308419" lvl="1">
                <a:lnSpc>
                  <a:spcPts val="5142"/>
                </a:lnSpc>
                <a:buAutoNum type="arabicPeriod" startAt="1"/>
              </a:pPr>
              <a:r>
                <a:rPr lang="en-US" b="true" sz="2857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Occupancy Grid is updated.</a:t>
              </a:r>
            </a:p>
            <a:p>
              <a:pPr algn="l" marL="616837" indent="-308419" lvl="1">
                <a:lnSpc>
                  <a:spcPts val="5142"/>
                </a:lnSpc>
                <a:buAutoNum type="arabicPeriod" startAt="1"/>
              </a:pPr>
              <a:r>
                <a:rPr lang="en-US" b="true" sz="2857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Frontiers are identified.</a:t>
              </a:r>
            </a:p>
            <a:p>
              <a:pPr algn="l" marL="616837" indent="-308419" lvl="1">
                <a:lnSpc>
                  <a:spcPts val="5142"/>
                </a:lnSpc>
                <a:buAutoNum type="arabicPeriod" startAt="1"/>
              </a:pPr>
              <a:r>
                <a:rPr lang="en-US" b="true" sz="2857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Utility function assigns exploration goals.</a:t>
              </a:r>
            </a:p>
            <a:p>
              <a:pPr algn="l" marL="616837" indent="-308419" lvl="1">
                <a:lnSpc>
                  <a:spcPts val="5142"/>
                </a:lnSpc>
                <a:buAutoNum type="arabicPeriod" startAt="1"/>
              </a:pPr>
              <a:r>
                <a:rPr lang="en-US" b="true" sz="2857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Object detector identifies targets.</a:t>
              </a:r>
            </a:p>
            <a:p>
              <a:pPr algn="l" marL="616837" indent="-308419" lvl="1">
                <a:lnSpc>
                  <a:spcPts val="5142"/>
                </a:lnSpc>
                <a:buAutoNum type="arabicPeriod" startAt="1"/>
              </a:pPr>
              <a:r>
                <a:rPr lang="en-US" b="true" sz="2857">
                  <a:solidFill>
                    <a:srgbClr val="FFFFFF"/>
                  </a:solidFill>
                  <a:latin typeface="Assistant Bold"/>
                  <a:ea typeface="Assistant Bold"/>
                  <a:cs typeface="Assistant Bold"/>
                  <a:sym typeface="Assistant Bold"/>
                </a:rPr>
                <a:t>Shared map is updated continuously.</a:t>
              </a:r>
            </a:p>
            <a:p>
              <a:pPr algn="l">
                <a:lnSpc>
                  <a:spcPts val="514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562454" y="0"/>
            <a:ext cx="9111066" cy="10428422"/>
          </a:xfrm>
          <a:custGeom>
            <a:avLst/>
            <a:gdLst/>
            <a:ahLst/>
            <a:cxnLst/>
            <a:rect r="r" b="b" t="t" l="l"/>
            <a:pathLst>
              <a:path h="10428422" w="9111066">
                <a:moveTo>
                  <a:pt x="0" y="0"/>
                </a:moveTo>
                <a:lnTo>
                  <a:pt x="9111066" y="0"/>
                </a:lnTo>
                <a:lnTo>
                  <a:pt x="9111066" y="10428422"/>
                </a:lnTo>
                <a:lnTo>
                  <a:pt x="0" y="10428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29" t="0" r="-722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00" y="864514"/>
            <a:ext cx="736371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Ov</a:t>
            </a:r>
            <a:r>
              <a:rPr lang="en-US" b="true" sz="6999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erall Workflow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195115" cy="10287000"/>
          </a:xfrm>
          <a:custGeom>
            <a:avLst/>
            <a:gdLst/>
            <a:ahLst/>
            <a:cxnLst/>
            <a:rect r="r" b="b" t="t" l="l"/>
            <a:pathLst>
              <a:path h="10287000" w="11195115">
                <a:moveTo>
                  <a:pt x="0" y="0"/>
                </a:moveTo>
                <a:lnTo>
                  <a:pt x="11195115" y="0"/>
                </a:lnTo>
                <a:lnTo>
                  <a:pt x="1119511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7" t="0" r="-26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95115" y="7330270"/>
            <a:ext cx="7336735" cy="2984703"/>
          </a:xfrm>
          <a:custGeom>
            <a:avLst/>
            <a:gdLst/>
            <a:ahLst/>
            <a:cxnLst/>
            <a:rect r="r" b="b" t="t" l="l"/>
            <a:pathLst>
              <a:path h="2984703" w="7336735">
                <a:moveTo>
                  <a:pt x="0" y="0"/>
                </a:moveTo>
                <a:lnTo>
                  <a:pt x="7336734" y="0"/>
                </a:lnTo>
                <a:lnTo>
                  <a:pt x="7336734" y="2984703"/>
                </a:lnTo>
                <a:lnTo>
                  <a:pt x="0" y="2984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491" t="0" r="-3216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58729" y="266700"/>
            <a:ext cx="640054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true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Sys</a:t>
            </a:r>
            <a:r>
              <a:rPr lang="en-US" b="true" sz="5000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40775" y="1509422"/>
            <a:ext cx="3246755" cy="48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Divide int</a:t>
            </a:r>
            <a:r>
              <a:rPr lang="en-US" b="true" sz="2299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 two branches.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00105" y="2029745"/>
            <a:ext cx="2468563" cy="48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413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</a:t>
            </a:r>
            <a:r>
              <a:rPr lang="en-US" sz="22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apping Branch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72721" y="2452332"/>
            <a:ext cx="2583498" cy="48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413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Detection</a:t>
            </a:r>
            <a:r>
              <a:rPr lang="en-US" sz="22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Branch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15362" y="3405130"/>
            <a:ext cx="5010944" cy="17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256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</a:t>
            </a:r>
            <a:r>
              <a:rPr lang="en-US" sz="256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oth branches communicate through</a:t>
            </a:r>
          </a:p>
          <a:p>
            <a:pPr algn="ctr">
              <a:lnSpc>
                <a:spcPts val="4971"/>
              </a:lnSpc>
              <a:spcBef>
                <a:spcPct val="0"/>
              </a:spcBef>
            </a:pPr>
            <a:r>
              <a:rPr lang="en-US" b="true" sz="276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Shared World Model</a:t>
            </a:r>
          </a:p>
          <a:p>
            <a:pPr algn="ctr">
              <a:lnSpc>
                <a:spcPts val="46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5834713" y="4302377"/>
            <a:ext cx="4666676" cy="2494551"/>
          </a:xfrm>
          <a:custGeom>
            <a:avLst/>
            <a:gdLst/>
            <a:ahLst/>
            <a:cxnLst/>
            <a:rect r="r" b="b" t="t" l="l"/>
            <a:pathLst>
              <a:path h="2494551" w="4666676">
                <a:moveTo>
                  <a:pt x="0" y="0"/>
                </a:moveTo>
                <a:lnTo>
                  <a:pt x="4666677" y="0"/>
                </a:lnTo>
                <a:lnTo>
                  <a:pt x="4666677" y="2494551"/>
                </a:lnTo>
                <a:lnTo>
                  <a:pt x="0" y="2494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96749" y="742907"/>
            <a:ext cx="7971303" cy="3216906"/>
          </a:xfrm>
          <a:custGeom>
            <a:avLst/>
            <a:gdLst/>
            <a:ahLst/>
            <a:cxnLst/>
            <a:rect r="r" b="b" t="t" l="l"/>
            <a:pathLst>
              <a:path h="3216906" w="7971303">
                <a:moveTo>
                  <a:pt x="0" y="0"/>
                </a:moveTo>
                <a:lnTo>
                  <a:pt x="7971303" y="0"/>
                </a:lnTo>
                <a:lnTo>
                  <a:pt x="7971303" y="3216906"/>
                </a:lnTo>
                <a:lnTo>
                  <a:pt x="0" y="3216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8" t="-78006" r="-23497" b="-5036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61975"/>
            <a:ext cx="651321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Te</a:t>
            </a:r>
            <a:r>
              <a:rPr lang="en-US" b="true" sz="6000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chnologies Used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8497335" y="15575"/>
            <a:ext cx="1013125" cy="1013125"/>
          </a:xfrm>
          <a:custGeom>
            <a:avLst/>
            <a:gdLst/>
            <a:ahLst/>
            <a:cxnLst/>
            <a:rect r="r" b="b" t="t" l="l"/>
            <a:pathLst>
              <a:path h="1013125" w="1013125">
                <a:moveTo>
                  <a:pt x="0" y="0"/>
                </a:moveTo>
                <a:lnTo>
                  <a:pt x="1013125" y="0"/>
                </a:lnTo>
                <a:lnTo>
                  <a:pt x="1013125" y="1013125"/>
                </a:lnTo>
                <a:lnTo>
                  <a:pt x="0" y="101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82422" y="4839039"/>
            <a:ext cx="1111122" cy="1111122"/>
          </a:xfrm>
          <a:custGeom>
            <a:avLst/>
            <a:gdLst/>
            <a:ahLst/>
            <a:cxnLst/>
            <a:rect r="r" b="b" t="t" l="l"/>
            <a:pathLst>
              <a:path h="1111122" w="1111122">
                <a:moveTo>
                  <a:pt x="0" y="0"/>
                </a:moveTo>
                <a:lnTo>
                  <a:pt x="1111122" y="0"/>
                </a:lnTo>
                <a:lnTo>
                  <a:pt x="1111122" y="1111122"/>
                </a:lnTo>
                <a:lnTo>
                  <a:pt x="0" y="1111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95768" y="4454583"/>
            <a:ext cx="7919559" cy="5263207"/>
          </a:xfrm>
          <a:custGeom>
            <a:avLst/>
            <a:gdLst/>
            <a:ahLst/>
            <a:cxnLst/>
            <a:rect r="r" b="b" t="t" l="l"/>
            <a:pathLst>
              <a:path h="5263207" w="7919559">
                <a:moveTo>
                  <a:pt x="0" y="0"/>
                </a:moveTo>
                <a:lnTo>
                  <a:pt x="7919559" y="0"/>
                </a:lnTo>
                <a:lnTo>
                  <a:pt x="7919559" y="5263206"/>
                </a:lnTo>
                <a:lnTo>
                  <a:pt x="0" y="52632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83374" y="2082636"/>
            <a:ext cx="4777797" cy="5130795"/>
            <a:chOff x="0" y="0"/>
            <a:chExt cx="909837" cy="9770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837" cy="977058"/>
            </a:xfrm>
            <a:custGeom>
              <a:avLst/>
              <a:gdLst/>
              <a:ahLst/>
              <a:cxnLst/>
              <a:rect r="r" b="b" t="t" l="l"/>
              <a:pathLst>
                <a:path h="977058" w="909837">
                  <a:moveTo>
                    <a:pt x="38889" y="0"/>
                  </a:moveTo>
                  <a:lnTo>
                    <a:pt x="870948" y="0"/>
                  </a:lnTo>
                  <a:cubicBezTo>
                    <a:pt x="892426" y="0"/>
                    <a:pt x="909837" y="17411"/>
                    <a:pt x="909837" y="38889"/>
                  </a:cubicBezTo>
                  <a:lnTo>
                    <a:pt x="909837" y="938169"/>
                  </a:lnTo>
                  <a:cubicBezTo>
                    <a:pt x="909837" y="948483"/>
                    <a:pt x="905740" y="958375"/>
                    <a:pt x="898447" y="965668"/>
                  </a:cubicBezTo>
                  <a:cubicBezTo>
                    <a:pt x="891153" y="972961"/>
                    <a:pt x="881262" y="977058"/>
                    <a:pt x="870948" y="977058"/>
                  </a:cubicBezTo>
                  <a:lnTo>
                    <a:pt x="38889" y="977058"/>
                  </a:lnTo>
                  <a:cubicBezTo>
                    <a:pt x="17411" y="977058"/>
                    <a:pt x="0" y="959647"/>
                    <a:pt x="0" y="938169"/>
                  </a:cubicBezTo>
                  <a:lnTo>
                    <a:pt x="0" y="38889"/>
                  </a:lnTo>
                  <a:cubicBezTo>
                    <a:pt x="0" y="17411"/>
                    <a:pt x="17411" y="0"/>
                    <a:pt x="38889" y="0"/>
                  </a:cubicBezTo>
                  <a:close/>
                </a:path>
              </a:pathLst>
            </a:custGeom>
            <a:solidFill>
              <a:srgbClr val="D65A3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09837" cy="977058"/>
            </a:xfrm>
            <a:prstGeom prst="rect">
              <a:avLst/>
            </a:prstGeom>
          </p:spPr>
          <p:txBody>
            <a:bodyPr anchor="ctr" rtlCol="false" tIns="55823" lIns="55823" bIns="55823" rIns="55823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11616" y="2189435"/>
            <a:ext cx="7128159" cy="434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Sim</a:t>
            </a: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ulation</a:t>
            </a:r>
          </a:p>
          <a:p>
            <a:pPr algn="l" marL="602528" indent="-301264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Gazebo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Robotics</a:t>
            </a:r>
          </a:p>
          <a:p>
            <a:pPr algn="l" marL="602528" indent="-301264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ROS2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Programming</a:t>
            </a:r>
          </a:p>
          <a:p>
            <a:pPr algn="l" marL="602528" indent="-301264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Python</a:t>
            </a:r>
          </a:p>
          <a:p>
            <a:pPr algn="l" marL="602528" indent="-301264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C++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3596" y="4839039"/>
            <a:ext cx="4777797" cy="5130795"/>
            <a:chOff x="0" y="0"/>
            <a:chExt cx="909837" cy="9770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9837" cy="977058"/>
            </a:xfrm>
            <a:custGeom>
              <a:avLst/>
              <a:gdLst/>
              <a:ahLst/>
              <a:cxnLst/>
              <a:rect r="r" b="b" t="t" l="l"/>
              <a:pathLst>
                <a:path h="977058" w="909837">
                  <a:moveTo>
                    <a:pt x="38889" y="0"/>
                  </a:moveTo>
                  <a:lnTo>
                    <a:pt x="870948" y="0"/>
                  </a:lnTo>
                  <a:cubicBezTo>
                    <a:pt x="892426" y="0"/>
                    <a:pt x="909837" y="17411"/>
                    <a:pt x="909837" y="38889"/>
                  </a:cubicBezTo>
                  <a:lnTo>
                    <a:pt x="909837" y="938169"/>
                  </a:lnTo>
                  <a:cubicBezTo>
                    <a:pt x="909837" y="948483"/>
                    <a:pt x="905740" y="958375"/>
                    <a:pt x="898447" y="965668"/>
                  </a:cubicBezTo>
                  <a:cubicBezTo>
                    <a:pt x="891153" y="972961"/>
                    <a:pt x="881262" y="977058"/>
                    <a:pt x="870948" y="977058"/>
                  </a:cubicBezTo>
                  <a:lnTo>
                    <a:pt x="38889" y="977058"/>
                  </a:lnTo>
                  <a:cubicBezTo>
                    <a:pt x="17411" y="977058"/>
                    <a:pt x="0" y="959647"/>
                    <a:pt x="0" y="938169"/>
                  </a:cubicBezTo>
                  <a:lnTo>
                    <a:pt x="0" y="38889"/>
                  </a:lnTo>
                  <a:cubicBezTo>
                    <a:pt x="0" y="17411"/>
                    <a:pt x="17411" y="0"/>
                    <a:pt x="38889" y="0"/>
                  </a:cubicBezTo>
                  <a:close/>
                </a:path>
              </a:pathLst>
            </a:custGeom>
            <a:solidFill>
              <a:srgbClr val="D65A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09837" cy="977058"/>
            </a:xfrm>
            <a:prstGeom prst="rect">
              <a:avLst/>
            </a:prstGeom>
          </p:spPr>
          <p:txBody>
            <a:bodyPr anchor="ctr" rtlCol="false" tIns="55823" lIns="55823" bIns="55823" rIns="55823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753776" y="4871393"/>
            <a:ext cx="5215858" cy="427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274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AI</a:t>
            </a:r>
          </a:p>
          <a:p>
            <a:pPr algn="l" marL="592422" indent="-296211" lvl="1">
              <a:lnSpc>
                <a:spcPts val="4939"/>
              </a:lnSpc>
              <a:spcBef>
                <a:spcPct val="0"/>
              </a:spcBef>
              <a:buFont typeface="Arial"/>
              <a:buChar char="•"/>
            </a:pPr>
            <a:r>
              <a:rPr lang="en-US" sz="274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YOLO</a:t>
            </a:r>
          </a:p>
          <a:p>
            <a:pPr algn="l" marL="592422" indent="-296211" lvl="1">
              <a:lnSpc>
                <a:spcPts val="4939"/>
              </a:lnSpc>
              <a:spcBef>
                <a:spcPct val="0"/>
              </a:spcBef>
              <a:buFont typeface="Arial"/>
              <a:buChar char="•"/>
            </a:pPr>
            <a:r>
              <a:rPr lang="en-US" sz="274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OpenCV</a:t>
            </a:r>
          </a:p>
          <a:p>
            <a:pPr algn="l">
              <a:lnSpc>
                <a:spcPts val="4939"/>
              </a:lnSpc>
              <a:spcBef>
                <a:spcPct val="0"/>
              </a:spcBef>
            </a:pPr>
            <a:r>
              <a:rPr lang="en-US" sz="274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Navigation</a:t>
            </a:r>
          </a:p>
          <a:p>
            <a:pPr algn="l" marL="592422" indent="-296211" lvl="1">
              <a:lnSpc>
                <a:spcPts val="4939"/>
              </a:lnSpc>
              <a:spcBef>
                <a:spcPct val="0"/>
              </a:spcBef>
              <a:buFont typeface="Arial"/>
              <a:buChar char="•"/>
            </a:pPr>
            <a:r>
              <a:rPr lang="en-US" sz="274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A*</a:t>
            </a:r>
          </a:p>
          <a:p>
            <a:pPr algn="l">
              <a:lnSpc>
                <a:spcPts val="4939"/>
              </a:lnSpc>
              <a:spcBef>
                <a:spcPct val="0"/>
              </a:spcBef>
            </a:pPr>
            <a:r>
              <a:rPr lang="en-US" sz="274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Mapping</a:t>
            </a:r>
          </a:p>
          <a:p>
            <a:pPr algn="l" marL="592422" indent="-296211" lvl="1">
              <a:lnSpc>
                <a:spcPts val="4939"/>
              </a:lnSpc>
              <a:spcBef>
                <a:spcPct val="0"/>
              </a:spcBef>
              <a:buFont typeface="Arial"/>
              <a:buChar char="•"/>
            </a:pPr>
            <a:r>
              <a:rPr lang="en-US" sz="274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Occupancy Grid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503" y="4110772"/>
            <a:ext cx="1269203" cy="1269203"/>
          </a:xfrm>
          <a:custGeom>
            <a:avLst/>
            <a:gdLst/>
            <a:ahLst/>
            <a:cxnLst/>
            <a:rect r="r" b="b" t="t" l="l"/>
            <a:pathLst>
              <a:path h="1269203" w="1269203">
                <a:moveTo>
                  <a:pt x="0" y="0"/>
                </a:moveTo>
                <a:lnTo>
                  <a:pt x="1269203" y="0"/>
                </a:lnTo>
                <a:lnTo>
                  <a:pt x="1269203" y="1269203"/>
                </a:lnTo>
                <a:lnTo>
                  <a:pt x="0" y="1269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71040" y="7408876"/>
            <a:ext cx="1062044" cy="1062044"/>
          </a:xfrm>
          <a:custGeom>
            <a:avLst/>
            <a:gdLst/>
            <a:ahLst/>
            <a:cxnLst/>
            <a:rect r="r" b="b" t="t" l="l"/>
            <a:pathLst>
              <a:path h="1062044" w="1062044">
                <a:moveTo>
                  <a:pt x="0" y="0"/>
                </a:moveTo>
                <a:lnTo>
                  <a:pt x="1062045" y="0"/>
                </a:lnTo>
                <a:lnTo>
                  <a:pt x="1062045" y="1062044"/>
                </a:lnTo>
                <a:lnTo>
                  <a:pt x="0" y="106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469560"/>
            <a:ext cx="8795042" cy="3222475"/>
          </a:xfrm>
          <a:custGeom>
            <a:avLst/>
            <a:gdLst/>
            <a:ahLst/>
            <a:cxnLst/>
            <a:rect r="r" b="b" t="t" l="l"/>
            <a:pathLst>
              <a:path h="3222475" w="8795042">
                <a:moveTo>
                  <a:pt x="0" y="0"/>
                </a:moveTo>
                <a:lnTo>
                  <a:pt x="8795042" y="0"/>
                </a:lnTo>
                <a:lnTo>
                  <a:pt x="8795042" y="3222475"/>
                </a:lnTo>
                <a:lnTo>
                  <a:pt x="0" y="3222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641" t="-48493" r="-23659" b="-6997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206665">
            <a:off x="10061601" y="-2171708"/>
            <a:ext cx="2495490" cy="4343416"/>
          </a:xfrm>
          <a:custGeom>
            <a:avLst/>
            <a:gdLst/>
            <a:ahLst/>
            <a:cxnLst/>
            <a:rect r="r" b="b" t="t" l="l"/>
            <a:pathLst>
              <a:path h="4343416" w="2495490">
                <a:moveTo>
                  <a:pt x="0" y="0"/>
                </a:moveTo>
                <a:lnTo>
                  <a:pt x="2495490" y="0"/>
                </a:lnTo>
                <a:lnTo>
                  <a:pt x="2495490" y="4343416"/>
                </a:lnTo>
                <a:lnTo>
                  <a:pt x="0" y="43434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72463" y="97458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28700"/>
            <a:ext cx="898891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Expect</a:t>
            </a:r>
            <a:r>
              <a:rPr lang="en-US" b="true" sz="6999">
                <a:solidFill>
                  <a:srgbClr val="00000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ed Output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5228" y="2371341"/>
            <a:ext cx="5744205" cy="434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System sh</a:t>
            </a: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ould produce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Occupancy Map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Detected Targets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Assigned Frontiers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Planned Paths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✔ Shared World Model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DAHRTsAKHE8</dc:identifier>
  <dcterms:modified xsi:type="dcterms:W3CDTF">2011-08-01T06:04:30Z</dcterms:modified>
  <cp:revision>1</cp:revision>
  <dc:title>Utility-Driven Coordinated Multi-UAV Exploration with Online Target Localization</dc:title>
</cp:coreProperties>
</file>