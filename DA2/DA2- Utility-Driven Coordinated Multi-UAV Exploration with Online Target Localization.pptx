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verpass Medium" charset="1" panose="00000000000000000000"/>
      <p:regular r:id="rId16"/>
    </p:embeddedFont>
    <p:embeddedFont>
      <p:font typeface="Assistant" charset="1" panose="00000500000000000000"/>
      <p:regular r:id="rId17"/>
    </p:embeddedFont>
    <p:embeddedFont>
      <p:font typeface="Assistant Bold" charset="1" panose="00000800000000000000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3906" y="2858779"/>
            <a:ext cx="1247811" cy="1247811"/>
          </a:xfrm>
          <a:custGeom>
            <a:avLst/>
            <a:gdLst/>
            <a:ahLst/>
            <a:cxnLst/>
            <a:rect r="r" b="b" t="t" l="l"/>
            <a:pathLst>
              <a:path h="1247811" w="1247811">
                <a:moveTo>
                  <a:pt x="0" y="0"/>
                </a:moveTo>
                <a:lnTo>
                  <a:pt x="1247812" y="0"/>
                </a:lnTo>
                <a:lnTo>
                  <a:pt x="1247812" y="1247811"/>
                </a:lnTo>
                <a:lnTo>
                  <a:pt x="0" y="1247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7385499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261459">
            <a:off x="10187124" y="-4688922"/>
            <a:ext cx="4275531" cy="7441588"/>
          </a:xfrm>
          <a:custGeom>
            <a:avLst/>
            <a:gdLst/>
            <a:ahLst/>
            <a:cxnLst/>
            <a:rect r="r" b="b" t="t" l="l"/>
            <a:pathLst>
              <a:path h="7441588" w="4275531">
                <a:moveTo>
                  <a:pt x="0" y="0"/>
                </a:moveTo>
                <a:lnTo>
                  <a:pt x="4275531" y="0"/>
                </a:lnTo>
                <a:lnTo>
                  <a:pt x="4275531" y="7441588"/>
                </a:lnTo>
                <a:lnTo>
                  <a:pt x="0" y="7441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0012" y="2716765"/>
            <a:ext cx="11549159" cy="159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1"/>
              </a:lnSpc>
            </a:pPr>
            <a:r>
              <a:rPr lang="en-US" sz="5700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Coordinated Multi-UAV Exploration and Target Localization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616068" y="5866502"/>
            <a:ext cx="6446445" cy="2547697"/>
          </a:xfrm>
          <a:custGeom>
            <a:avLst/>
            <a:gdLst/>
            <a:ahLst/>
            <a:cxnLst/>
            <a:rect r="r" b="b" t="t" l="l"/>
            <a:pathLst>
              <a:path h="2547697" w="6446445">
                <a:moveTo>
                  <a:pt x="0" y="0"/>
                </a:moveTo>
                <a:lnTo>
                  <a:pt x="6446445" y="0"/>
                </a:lnTo>
                <a:lnTo>
                  <a:pt x="6446445" y="2547697"/>
                </a:lnTo>
                <a:lnTo>
                  <a:pt x="0" y="25476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675" t="-113390" r="-22758" b="-41976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839291" y="3486391"/>
            <a:ext cx="4415591" cy="1745084"/>
          </a:xfrm>
          <a:custGeom>
            <a:avLst/>
            <a:gdLst/>
            <a:ahLst/>
            <a:cxnLst/>
            <a:rect r="r" b="b" t="t" l="l"/>
            <a:pathLst>
              <a:path h="1745084" w="4415591">
                <a:moveTo>
                  <a:pt x="4415591" y="0"/>
                </a:moveTo>
                <a:lnTo>
                  <a:pt x="0" y="0"/>
                </a:lnTo>
                <a:lnTo>
                  <a:pt x="0" y="1745084"/>
                </a:lnTo>
                <a:lnTo>
                  <a:pt x="4415591" y="1745084"/>
                </a:lnTo>
                <a:lnTo>
                  <a:pt x="4415591" y="0"/>
                </a:lnTo>
                <a:close/>
              </a:path>
            </a:pathLst>
          </a:custGeom>
          <a:blipFill>
            <a:blip r:embed="rId6"/>
            <a:stretch>
              <a:fillRect l="-7675" t="-113390" r="-22758" b="-4197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4368" y="5833100"/>
            <a:ext cx="7421513" cy="1038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237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An AI Framework for</a:t>
            </a:r>
            <a:r>
              <a:rPr lang="en-US" sz="237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Autonomous Mapping of Unknown Environments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2487" y="7929501"/>
            <a:ext cx="2135188" cy="109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6"/>
              </a:lnSpc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Adarsh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M.Sai Amirthesh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50920" y="0"/>
            <a:ext cx="9943120" cy="10447174"/>
          </a:xfrm>
          <a:custGeom>
            <a:avLst/>
            <a:gdLst/>
            <a:ahLst/>
            <a:cxnLst/>
            <a:rect r="r" b="b" t="t" l="l"/>
            <a:pathLst>
              <a:path h="10447174" w="9943120">
                <a:moveTo>
                  <a:pt x="0" y="0"/>
                </a:moveTo>
                <a:lnTo>
                  <a:pt x="9943120" y="0"/>
                </a:lnTo>
                <a:lnTo>
                  <a:pt x="9943120" y="10447174"/>
                </a:lnTo>
                <a:lnTo>
                  <a:pt x="0" y="10447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34" t="0" r="-253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976545">
            <a:off x="15127118" y="-2858321"/>
            <a:ext cx="3526485" cy="7852497"/>
          </a:xfrm>
          <a:custGeom>
            <a:avLst/>
            <a:gdLst/>
            <a:ahLst/>
            <a:cxnLst/>
            <a:rect r="r" b="b" t="t" l="l"/>
            <a:pathLst>
              <a:path h="7852497" w="3526485">
                <a:moveTo>
                  <a:pt x="0" y="0"/>
                </a:moveTo>
                <a:lnTo>
                  <a:pt x="3526485" y="0"/>
                </a:lnTo>
                <a:lnTo>
                  <a:pt x="3526485" y="7852497"/>
                </a:lnTo>
                <a:lnTo>
                  <a:pt x="0" y="785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787832" y="6271071"/>
            <a:ext cx="3717210" cy="3664833"/>
            <a:chOff x="0" y="0"/>
            <a:chExt cx="837103" cy="8253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37103" cy="825308"/>
            </a:xfrm>
            <a:custGeom>
              <a:avLst/>
              <a:gdLst/>
              <a:ahLst/>
              <a:cxnLst/>
              <a:rect r="r" b="b" t="t" l="l"/>
              <a:pathLst>
                <a:path h="825308" w="837103">
                  <a:moveTo>
                    <a:pt x="39051" y="0"/>
                  </a:moveTo>
                  <a:lnTo>
                    <a:pt x="798052" y="0"/>
                  </a:lnTo>
                  <a:cubicBezTo>
                    <a:pt x="808409" y="0"/>
                    <a:pt x="818341" y="4114"/>
                    <a:pt x="825665" y="11438"/>
                  </a:cubicBezTo>
                  <a:cubicBezTo>
                    <a:pt x="832988" y="18761"/>
                    <a:pt x="837103" y="28694"/>
                    <a:pt x="837103" y="39051"/>
                  </a:cubicBezTo>
                  <a:lnTo>
                    <a:pt x="837103" y="786257"/>
                  </a:lnTo>
                  <a:cubicBezTo>
                    <a:pt x="837103" y="796614"/>
                    <a:pt x="832988" y="806546"/>
                    <a:pt x="825665" y="813870"/>
                  </a:cubicBezTo>
                  <a:cubicBezTo>
                    <a:pt x="818341" y="821193"/>
                    <a:pt x="808409" y="825308"/>
                    <a:pt x="798052" y="825308"/>
                  </a:cubicBezTo>
                  <a:lnTo>
                    <a:pt x="39051" y="825308"/>
                  </a:lnTo>
                  <a:cubicBezTo>
                    <a:pt x="28694" y="825308"/>
                    <a:pt x="18761" y="821193"/>
                    <a:pt x="11438" y="813870"/>
                  </a:cubicBezTo>
                  <a:cubicBezTo>
                    <a:pt x="4114" y="806546"/>
                    <a:pt x="0" y="796614"/>
                    <a:pt x="0" y="786257"/>
                  </a:cubicBezTo>
                  <a:lnTo>
                    <a:pt x="0" y="39051"/>
                  </a:lnTo>
                  <a:cubicBezTo>
                    <a:pt x="0" y="28694"/>
                    <a:pt x="4114" y="18761"/>
                    <a:pt x="11438" y="11438"/>
                  </a:cubicBezTo>
                  <a:cubicBezTo>
                    <a:pt x="18761" y="4114"/>
                    <a:pt x="28694" y="0"/>
                    <a:pt x="39051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837103" cy="815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421970" y="3246869"/>
            <a:ext cx="1199046" cy="1199046"/>
          </a:xfrm>
          <a:custGeom>
            <a:avLst/>
            <a:gdLst/>
            <a:ahLst/>
            <a:cxnLst/>
            <a:rect r="r" b="b" t="t" l="l"/>
            <a:pathLst>
              <a:path h="1199046" w="1199046">
                <a:moveTo>
                  <a:pt x="0" y="0"/>
                </a:moveTo>
                <a:lnTo>
                  <a:pt x="1199046" y="0"/>
                </a:lnTo>
                <a:lnTo>
                  <a:pt x="1199046" y="1199046"/>
                </a:lnTo>
                <a:lnTo>
                  <a:pt x="0" y="1199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29697"/>
            <a:ext cx="1305662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Pr</a:t>
            </a:r>
            <a:r>
              <a:rPr lang="en-US" b="true" sz="6000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oblem &amp; Proposed Idea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5397" y="3423987"/>
            <a:ext cx="9615961" cy="327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sz="210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When multiple UAVs explore an unknown environment:</a:t>
            </a:r>
          </a:p>
          <a:p>
            <a:pPr algn="l" marL="454439" indent="-227220" lvl="1">
              <a:lnSpc>
                <a:spcPts val="3788"/>
              </a:lnSpc>
              <a:buFont typeface="Arial"/>
              <a:buChar char="•"/>
            </a:pPr>
            <a:r>
              <a:rPr lang="en-US" sz="210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UAVs may search the same region.</a:t>
            </a:r>
          </a:p>
          <a:p>
            <a:pPr algn="l" marL="454439" indent="-227220" lvl="1">
              <a:lnSpc>
                <a:spcPts val="3788"/>
              </a:lnSpc>
              <a:buFont typeface="Arial"/>
              <a:buChar char="•"/>
            </a:pPr>
            <a:r>
              <a:rPr lang="en-US" sz="210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Exploration can become inefficient.</a:t>
            </a:r>
          </a:p>
          <a:p>
            <a:pPr algn="l" marL="454439" indent="-227220" lvl="1">
              <a:lnSpc>
                <a:spcPts val="3788"/>
              </a:lnSpc>
              <a:buFont typeface="Arial"/>
              <a:buChar char="•"/>
            </a:pPr>
            <a:r>
              <a:rPr lang="en-US" sz="210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Detected objects need to be localized on the map.</a:t>
            </a:r>
          </a:p>
          <a:p>
            <a:pPr algn="l" marL="454439" indent="-227220" lvl="1">
              <a:lnSpc>
                <a:spcPts val="3788"/>
              </a:lnSpc>
              <a:buFont typeface="Arial"/>
              <a:buChar char="•"/>
            </a:pPr>
            <a:r>
              <a:rPr lang="en-US" sz="210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Coordination becomes difficult as the number of UAVs increases.</a:t>
            </a:r>
          </a:p>
          <a:p>
            <a:pPr algn="l">
              <a:lnSpc>
                <a:spcPts val="3788"/>
              </a:lnSpc>
            </a:pPr>
            <a:r>
              <a:rPr lang="en-US" sz="210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</a:p>
          <a:p>
            <a:pPr algn="l">
              <a:lnSpc>
                <a:spcPts val="378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45397" y="2872747"/>
            <a:ext cx="365918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95067" y="6681032"/>
            <a:ext cx="3126764" cy="264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1953" b="true">
                <a:solidFill>
                  <a:srgbClr val="FFFFF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Our</a:t>
            </a:r>
            <a:r>
              <a:rPr lang="en-US" sz="1953" b="true">
                <a:solidFill>
                  <a:srgbClr val="FFFFF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Idea</a:t>
            </a:r>
          </a:p>
          <a:p>
            <a:pPr algn="l">
              <a:lnSpc>
                <a:spcPts val="3517"/>
              </a:lnSpc>
            </a:pPr>
            <a:r>
              <a:rPr lang="en-US" sz="195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Coordin</a:t>
            </a:r>
            <a:r>
              <a:rPr lang="en-US" sz="195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ate multiple UAVs to explore an unknown environment while detecting and localizing targets</a:t>
            </a:r>
          </a:p>
          <a:p>
            <a:pPr algn="l">
              <a:lnSpc>
                <a:spcPts val="351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0756726" y="-306822"/>
            <a:ext cx="1067927" cy="1067927"/>
          </a:xfrm>
          <a:custGeom>
            <a:avLst/>
            <a:gdLst/>
            <a:ahLst/>
            <a:cxnLst/>
            <a:rect r="r" b="b" t="t" l="l"/>
            <a:pathLst>
              <a:path h="1067927" w="1067927">
                <a:moveTo>
                  <a:pt x="0" y="0"/>
                </a:moveTo>
                <a:lnTo>
                  <a:pt x="1067927" y="0"/>
                </a:lnTo>
                <a:lnTo>
                  <a:pt x="1067927" y="1067927"/>
                </a:lnTo>
                <a:lnTo>
                  <a:pt x="0" y="1067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7222159" y="3753796"/>
            <a:ext cx="1065841" cy="1065841"/>
          </a:xfrm>
          <a:custGeom>
            <a:avLst/>
            <a:gdLst/>
            <a:ahLst/>
            <a:cxnLst/>
            <a:rect r="r" b="b" t="t" l="l"/>
            <a:pathLst>
              <a:path h="1065841" w="1065841">
                <a:moveTo>
                  <a:pt x="0" y="0"/>
                </a:moveTo>
                <a:lnTo>
                  <a:pt x="1065841" y="0"/>
                </a:lnTo>
                <a:lnTo>
                  <a:pt x="1065841" y="1065841"/>
                </a:lnTo>
                <a:lnTo>
                  <a:pt x="0" y="1065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824653" y="-306822"/>
            <a:ext cx="9619043" cy="2825548"/>
          </a:xfrm>
          <a:custGeom>
            <a:avLst/>
            <a:gdLst/>
            <a:ahLst/>
            <a:cxnLst/>
            <a:rect r="r" b="b" t="t" l="l"/>
            <a:pathLst>
              <a:path h="2825548" w="9619043">
                <a:moveTo>
                  <a:pt x="9619043" y="0"/>
                </a:moveTo>
                <a:lnTo>
                  <a:pt x="0" y="0"/>
                </a:lnTo>
                <a:lnTo>
                  <a:pt x="0" y="2825548"/>
                </a:lnTo>
                <a:lnTo>
                  <a:pt x="9619043" y="2825548"/>
                </a:lnTo>
                <a:lnTo>
                  <a:pt x="9619043" y="0"/>
                </a:lnTo>
                <a:close/>
              </a:path>
            </a:pathLst>
          </a:custGeom>
          <a:blipFill>
            <a:blip r:embed="rId4"/>
            <a:stretch>
              <a:fillRect l="-7073" t="-107723" r="-35980" b="-11723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69148" y="1914854"/>
            <a:ext cx="9213850" cy="566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6"/>
              </a:lnSpc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Simple Architecture Description</a:t>
            </a:r>
          </a:p>
          <a:p>
            <a:pPr algn="l" marL="541689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Unknown Environment → Area that the UAVs need to explore.</a:t>
            </a:r>
          </a:p>
          <a:p>
            <a:pPr algn="l" marL="541689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Multiple UAVs → Drones use LiDAR and cameras.</a:t>
            </a:r>
          </a:p>
          <a:p>
            <a:pPr algn="l" marL="541689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Mapping &amp; Exploration → UAVs explore the area and create a map.</a:t>
            </a:r>
          </a:p>
          <a:p>
            <a:pPr algn="l" marL="541689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Frontier Search → Finds unexplored areas.</a:t>
            </a:r>
          </a:p>
          <a:p>
            <a:pPr algn="l" marL="541689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Multi-UAV Coordination → Divides the search between UAVs.</a:t>
            </a:r>
          </a:p>
          <a:p>
            <a:pPr algn="l" marL="541689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YOLO Detection → Detects people using the camera.</a:t>
            </a:r>
          </a:p>
          <a:p>
            <a:pPr algn="l" marL="541689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Target Localization → Finds the person's location on the map.</a:t>
            </a:r>
          </a:p>
          <a:p>
            <a:pPr algn="l" marL="541689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Shared World Model → Combines the map and detected targets.</a:t>
            </a:r>
          </a:p>
          <a:p>
            <a:pPr algn="l" marL="541689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Final Output → Map with the detected person's location.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1711671"/>
            <a:ext cx="4032963" cy="8283365"/>
          </a:xfrm>
          <a:custGeom>
            <a:avLst/>
            <a:gdLst/>
            <a:ahLst/>
            <a:cxnLst/>
            <a:rect r="r" b="b" t="t" l="l"/>
            <a:pathLst>
              <a:path h="8283365" w="4032963">
                <a:moveTo>
                  <a:pt x="0" y="0"/>
                </a:moveTo>
                <a:lnTo>
                  <a:pt x="4032963" y="0"/>
                </a:lnTo>
                <a:lnTo>
                  <a:pt x="4032963" y="8283365"/>
                </a:lnTo>
                <a:lnTo>
                  <a:pt x="0" y="8283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1234" y="249244"/>
            <a:ext cx="9334451" cy="110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4"/>
              </a:lnSpc>
            </a:pPr>
            <a:r>
              <a:rPr lang="en-US" b="true" sz="733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458120">
            <a:off x="11845610" y="-2125317"/>
            <a:ext cx="8273273" cy="4828583"/>
          </a:xfrm>
          <a:custGeom>
            <a:avLst/>
            <a:gdLst/>
            <a:ahLst/>
            <a:cxnLst/>
            <a:rect r="r" b="b" t="t" l="l"/>
            <a:pathLst>
              <a:path h="4828583" w="8273273">
                <a:moveTo>
                  <a:pt x="0" y="0"/>
                </a:moveTo>
                <a:lnTo>
                  <a:pt x="8273273" y="0"/>
                </a:lnTo>
                <a:lnTo>
                  <a:pt x="8273273" y="4828583"/>
                </a:lnTo>
                <a:lnTo>
                  <a:pt x="0" y="4828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0834" y="3396559"/>
            <a:ext cx="8154313" cy="3222663"/>
          </a:xfrm>
          <a:custGeom>
            <a:avLst/>
            <a:gdLst/>
            <a:ahLst/>
            <a:cxnLst/>
            <a:rect r="r" b="b" t="t" l="l"/>
            <a:pathLst>
              <a:path h="3222663" w="8154313">
                <a:moveTo>
                  <a:pt x="0" y="0"/>
                </a:moveTo>
                <a:lnTo>
                  <a:pt x="8154313" y="0"/>
                </a:lnTo>
                <a:lnTo>
                  <a:pt x="8154313" y="3222662"/>
                </a:lnTo>
                <a:lnTo>
                  <a:pt x="0" y="3222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675" t="-113390" r="-22758" b="-4197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5997" y="3987511"/>
            <a:ext cx="1358561" cy="1358561"/>
          </a:xfrm>
          <a:custGeom>
            <a:avLst/>
            <a:gdLst/>
            <a:ahLst/>
            <a:cxnLst/>
            <a:rect r="r" b="b" t="t" l="l"/>
            <a:pathLst>
              <a:path h="1358561" w="1358561">
                <a:moveTo>
                  <a:pt x="0" y="0"/>
                </a:moveTo>
                <a:lnTo>
                  <a:pt x="1358561" y="0"/>
                </a:lnTo>
                <a:lnTo>
                  <a:pt x="1358561" y="1358561"/>
                </a:lnTo>
                <a:lnTo>
                  <a:pt x="0" y="1358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78882" y="7814237"/>
            <a:ext cx="1109118" cy="1109118"/>
          </a:xfrm>
          <a:custGeom>
            <a:avLst/>
            <a:gdLst/>
            <a:ahLst/>
            <a:cxnLst/>
            <a:rect r="r" b="b" t="t" l="l"/>
            <a:pathLst>
              <a:path h="1109118" w="1109118">
                <a:moveTo>
                  <a:pt x="0" y="0"/>
                </a:moveTo>
                <a:lnTo>
                  <a:pt x="1109118" y="0"/>
                </a:lnTo>
                <a:lnTo>
                  <a:pt x="1109118" y="1109119"/>
                </a:lnTo>
                <a:lnTo>
                  <a:pt x="0" y="11091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8037" y="1990142"/>
            <a:ext cx="3827784" cy="2223802"/>
          </a:xfrm>
          <a:custGeom>
            <a:avLst/>
            <a:gdLst/>
            <a:ahLst/>
            <a:cxnLst/>
            <a:rect r="r" b="b" t="t" l="l"/>
            <a:pathLst>
              <a:path h="2223802" w="3827784">
                <a:moveTo>
                  <a:pt x="0" y="0"/>
                </a:moveTo>
                <a:lnTo>
                  <a:pt x="3827784" y="0"/>
                </a:lnTo>
                <a:lnTo>
                  <a:pt x="3827784" y="2223802"/>
                </a:lnTo>
                <a:lnTo>
                  <a:pt x="0" y="22238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82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4106" y="656642"/>
            <a:ext cx="621960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Sy</a:t>
            </a:r>
            <a:r>
              <a:rPr lang="en-US" b="true" sz="6000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stem Modules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0854" y="2630803"/>
            <a:ext cx="3502184" cy="534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  <a:spcBef>
                <a:spcPct val="0"/>
              </a:spcBef>
            </a:pPr>
            <a:r>
              <a:rPr lang="en-US" b="true" sz="26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Envi</a:t>
            </a:r>
            <a:r>
              <a:rPr lang="en-US" b="true" sz="26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ronment &amp; Mapping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51294" y="2206276"/>
            <a:ext cx="4492149" cy="22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689" indent="-270845" lvl="1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2D/3D s</a:t>
            </a: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imulated environment</a:t>
            </a:r>
          </a:p>
          <a:p>
            <a:pPr algn="l" marL="541689" indent="-270845" lvl="1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LiDAR sensing</a:t>
            </a:r>
          </a:p>
          <a:p>
            <a:pPr algn="l" marL="541689" indent="-270845" lvl="1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Occupancy representation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8055" y="7256895"/>
            <a:ext cx="3827784" cy="2223802"/>
          </a:xfrm>
          <a:custGeom>
            <a:avLst/>
            <a:gdLst/>
            <a:ahLst/>
            <a:cxnLst/>
            <a:rect r="r" b="b" t="t" l="l"/>
            <a:pathLst>
              <a:path h="2223802" w="3827784">
                <a:moveTo>
                  <a:pt x="0" y="0"/>
                </a:moveTo>
                <a:lnTo>
                  <a:pt x="3827783" y="0"/>
                </a:lnTo>
                <a:lnTo>
                  <a:pt x="3827783" y="2223802"/>
                </a:lnTo>
                <a:lnTo>
                  <a:pt x="0" y="22238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8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8055" y="4623519"/>
            <a:ext cx="3827784" cy="2223802"/>
          </a:xfrm>
          <a:custGeom>
            <a:avLst/>
            <a:gdLst/>
            <a:ahLst/>
            <a:cxnLst/>
            <a:rect r="r" b="b" t="t" l="l"/>
            <a:pathLst>
              <a:path h="2223802" w="3827784">
                <a:moveTo>
                  <a:pt x="0" y="0"/>
                </a:moveTo>
                <a:lnTo>
                  <a:pt x="3827783" y="0"/>
                </a:lnTo>
                <a:lnTo>
                  <a:pt x="3827783" y="2223801"/>
                </a:lnTo>
                <a:lnTo>
                  <a:pt x="0" y="22238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82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8055" y="5203197"/>
            <a:ext cx="3827784" cy="52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6"/>
              </a:lnSpc>
              <a:spcBef>
                <a:spcPct val="0"/>
              </a:spcBef>
            </a:pPr>
            <a:r>
              <a:rPr lang="en-US" b="true" sz="25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Multi-UAV Explorati</a:t>
            </a:r>
            <a:r>
              <a:rPr lang="en-US" b="true" sz="25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51294" y="4631697"/>
            <a:ext cx="3591084" cy="22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689" indent="-270845" lvl="1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Frontier detecti</a:t>
            </a: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on</a:t>
            </a:r>
          </a:p>
          <a:p>
            <a:pPr algn="l" marL="541689" indent="-270845" lvl="1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Search/path planning</a:t>
            </a:r>
          </a:p>
          <a:p>
            <a:pPr algn="l" marL="541689" indent="-270845" lvl="1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Multi-UAV coordination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93907" y="8026239"/>
            <a:ext cx="2916079" cy="565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  <a:spcBef>
                <a:spcPct val="0"/>
              </a:spcBef>
            </a:pPr>
            <a:r>
              <a:rPr lang="en-US" b="true" sz="27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AI</a:t>
            </a:r>
            <a:r>
              <a:rPr lang="en-US" b="true" sz="27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-Based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65807" y="7243007"/>
            <a:ext cx="2773521" cy="22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689" indent="-270845" lvl="1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</a:t>
            </a: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amera input</a:t>
            </a:r>
          </a:p>
          <a:p>
            <a:pPr algn="l" marL="541689" indent="-270845" lvl="1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YOLO</a:t>
            </a:r>
          </a:p>
          <a:p>
            <a:pPr algn="l" marL="541689" indent="-270845" lvl="1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Person detection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9047">
            <a:off x="7314560" y="-2441997"/>
            <a:ext cx="4888648" cy="3430942"/>
          </a:xfrm>
          <a:custGeom>
            <a:avLst/>
            <a:gdLst/>
            <a:ahLst/>
            <a:cxnLst/>
            <a:rect r="r" b="b" t="t" l="l"/>
            <a:pathLst>
              <a:path h="3430942" w="4888648">
                <a:moveTo>
                  <a:pt x="0" y="0"/>
                </a:moveTo>
                <a:lnTo>
                  <a:pt x="4888648" y="0"/>
                </a:lnTo>
                <a:lnTo>
                  <a:pt x="4888648" y="3430942"/>
                </a:lnTo>
                <a:lnTo>
                  <a:pt x="0" y="3430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1628" y="439654"/>
            <a:ext cx="6333753" cy="3808169"/>
          </a:xfrm>
          <a:custGeom>
            <a:avLst/>
            <a:gdLst/>
            <a:ahLst/>
            <a:cxnLst/>
            <a:rect r="r" b="b" t="t" l="l"/>
            <a:pathLst>
              <a:path h="3808169" w="6333753">
                <a:moveTo>
                  <a:pt x="0" y="0"/>
                </a:moveTo>
                <a:lnTo>
                  <a:pt x="6333753" y="0"/>
                </a:lnTo>
                <a:lnTo>
                  <a:pt x="6333753" y="3808169"/>
                </a:lnTo>
                <a:lnTo>
                  <a:pt x="0" y="3808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21812" y="1114312"/>
            <a:ext cx="521724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Data</a:t>
            </a:r>
            <a:r>
              <a:rPr lang="en-US" b="true" sz="6000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set Used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5365168"/>
            <a:ext cx="1022406" cy="1022406"/>
          </a:xfrm>
          <a:custGeom>
            <a:avLst/>
            <a:gdLst/>
            <a:ahLst/>
            <a:cxnLst/>
            <a:rect r="r" b="b" t="t" l="l"/>
            <a:pathLst>
              <a:path h="1022406" w="1022406">
                <a:moveTo>
                  <a:pt x="0" y="0"/>
                </a:moveTo>
                <a:lnTo>
                  <a:pt x="1022406" y="0"/>
                </a:lnTo>
                <a:lnTo>
                  <a:pt x="1022406" y="1022406"/>
                </a:lnTo>
                <a:lnTo>
                  <a:pt x="0" y="1022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86981" y="3461083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1"/>
                </a:lnTo>
                <a:lnTo>
                  <a:pt x="0" y="1028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1812" y="2700987"/>
            <a:ext cx="4563269" cy="50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Dataset Source</a:t>
            </a:r>
            <a:r>
              <a:rPr lang="en-US" sz="23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: VisDrone2019-DET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21812" y="3628310"/>
            <a:ext cx="7078397" cy="6148429"/>
            <a:chOff x="0" y="0"/>
            <a:chExt cx="9437863" cy="819790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437863" cy="8197906"/>
              <a:chOff x="0" y="0"/>
              <a:chExt cx="2432913" cy="211327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32913" cy="2113274"/>
              </a:xfrm>
              <a:custGeom>
                <a:avLst/>
                <a:gdLst/>
                <a:ahLst/>
                <a:cxnLst/>
                <a:rect r="r" b="b" t="t" l="l"/>
                <a:pathLst>
                  <a:path h="2113274" w="2432913">
                    <a:moveTo>
                      <a:pt x="14544" y="0"/>
                    </a:moveTo>
                    <a:lnTo>
                      <a:pt x="2418370" y="0"/>
                    </a:lnTo>
                    <a:cubicBezTo>
                      <a:pt x="2426402" y="0"/>
                      <a:pt x="2432913" y="6511"/>
                      <a:pt x="2432913" y="14544"/>
                    </a:cubicBezTo>
                    <a:lnTo>
                      <a:pt x="2432913" y="2098731"/>
                    </a:lnTo>
                    <a:cubicBezTo>
                      <a:pt x="2432913" y="2106763"/>
                      <a:pt x="2426402" y="2113274"/>
                      <a:pt x="2418370" y="2113274"/>
                    </a:cubicBezTo>
                    <a:lnTo>
                      <a:pt x="14544" y="2113274"/>
                    </a:lnTo>
                    <a:cubicBezTo>
                      <a:pt x="6511" y="2113274"/>
                      <a:pt x="0" y="2106763"/>
                      <a:pt x="0" y="2098731"/>
                    </a:cubicBezTo>
                    <a:lnTo>
                      <a:pt x="0" y="14544"/>
                    </a:lnTo>
                    <a:cubicBezTo>
                      <a:pt x="0" y="6511"/>
                      <a:pt x="6511" y="0"/>
                      <a:pt x="14544" y="0"/>
                    </a:cubicBezTo>
                    <a:close/>
                  </a:path>
                </a:pathLst>
              </a:custGeom>
              <a:solidFill>
                <a:srgbClr val="D65A3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2432913" cy="2113274"/>
              </a:xfrm>
              <a:prstGeom prst="rect">
                <a:avLst/>
              </a:prstGeom>
            </p:spPr>
            <p:txBody>
              <a:bodyPr anchor="ctr" rtlCol="false" tIns="55823" lIns="55823" bIns="55823" rIns="55823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11686" y="93187"/>
              <a:ext cx="8345657" cy="7644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8"/>
                </a:lnSpc>
              </a:pPr>
              <a:r>
                <a:rPr lang="en-US" sz="2599" b="true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Dataset Used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Dataset: VisDrone2019-DET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Images: 548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Classes: Person + Vehicle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Annotations: 30,212 objects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Image Type: RGB aerial images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Train: 438 images (80%)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Validation: 110 images (20%)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Test: 110 held-out images</a:t>
              </a:r>
            </a:p>
            <a:p>
              <a:pPr algn="l">
                <a:lnSpc>
                  <a:spcPts val="467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4489784"/>
            <a:ext cx="7078397" cy="4983559"/>
            <a:chOff x="0" y="0"/>
            <a:chExt cx="9437863" cy="664474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437863" cy="6644745"/>
              <a:chOff x="0" y="0"/>
              <a:chExt cx="2432913" cy="171289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32913" cy="1712897"/>
              </a:xfrm>
              <a:custGeom>
                <a:avLst/>
                <a:gdLst/>
                <a:ahLst/>
                <a:cxnLst/>
                <a:rect r="r" b="b" t="t" l="l"/>
                <a:pathLst>
                  <a:path h="1712897" w="2432913">
                    <a:moveTo>
                      <a:pt x="14544" y="0"/>
                    </a:moveTo>
                    <a:lnTo>
                      <a:pt x="2418370" y="0"/>
                    </a:lnTo>
                    <a:cubicBezTo>
                      <a:pt x="2426402" y="0"/>
                      <a:pt x="2432913" y="6511"/>
                      <a:pt x="2432913" y="14544"/>
                    </a:cubicBezTo>
                    <a:lnTo>
                      <a:pt x="2432913" y="1698354"/>
                    </a:lnTo>
                    <a:cubicBezTo>
                      <a:pt x="2432913" y="1706386"/>
                      <a:pt x="2426402" y="1712897"/>
                      <a:pt x="2418370" y="1712897"/>
                    </a:cubicBezTo>
                    <a:lnTo>
                      <a:pt x="14544" y="1712897"/>
                    </a:lnTo>
                    <a:cubicBezTo>
                      <a:pt x="6511" y="1712897"/>
                      <a:pt x="0" y="1706386"/>
                      <a:pt x="0" y="1698354"/>
                    </a:cubicBezTo>
                    <a:lnTo>
                      <a:pt x="0" y="14544"/>
                    </a:lnTo>
                    <a:cubicBezTo>
                      <a:pt x="0" y="6511"/>
                      <a:pt x="6511" y="0"/>
                      <a:pt x="14544" y="0"/>
                    </a:cubicBezTo>
                    <a:close/>
                  </a:path>
                </a:pathLst>
              </a:custGeom>
              <a:solidFill>
                <a:srgbClr val="D65A3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0"/>
                <a:ext cx="2432913" cy="1712897"/>
              </a:xfrm>
              <a:prstGeom prst="rect">
                <a:avLst/>
              </a:prstGeom>
            </p:spPr>
            <p:txBody>
              <a:bodyPr anchor="ctr" rtlCol="false" tIns="55823" lIns="55823" bIns="55823" rIns="55823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11686" y="93187"/>
              <a:ext cx="8345657" cy="6091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8"/>
                </a:lnSpc>
              </a:pPr>
              <a:r>
                <a:rPr lang="en-US" sz="2599" b="true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Preproce</a:t>
              </a:r>
              <a:r>
                <a:rPr lang="en-US" sz="2599" b="true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ssing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Images resized to 800 × 800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Original annotations converted to YOLO format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Unw</a:t>
              </a: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anted/ignored annotations removed</a:t>
              </a:r>
            </a:p>
            <a:p>
              <a:pPr algn="l" marL="561193" indent="-280597" lvl="1">
                <a:lnSpc>
                  <a:spcPts val="4678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Boun</a:t>
              </a:r>
              <a:r>
                <a:rPr lang="en-US" b="true" sz="2599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ding-box coordinates normalized</a:t>
              </a:r>
            </a:p>
            <a:p>
              <a:pPr algn="l">
                <a:lnSpc>
                  <a:spcPts val="4678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622730" y="3785944"/>
            <a:ext cx="4752459" cy="2082441"/>
          </a:xfrm>
          <a:custGeom>
            <a:avLst/>
            <a:gdLst/>
            <a:ahLst/>
            <a:cxnLst/>
            <a:rect r="r" b="b" t="t" l="l"/>
            <a:pathLst>
              <a:path h="2082441" w="4752459">
                <a:moveTo>
                  <a:pt x="0" y="0"/>
                </a:moveTo>
                <a:lnTo>
                  <a:pt x="4752459" y="0"/>
                </a:lnTo>
                <a:lnTo>
                  <a:pt x="4752459" y="2082442"/>
                </a:lnTo>
                <a:lnTo>
                  <a:pt x="0" y="2082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55266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36682" y="16677"/>
            <a:ext cx="1051250" cy="1051250"/>
          </a:xfrm>
          <a:custGeom>
            <a:avLst/>
            <a:gdLst/>
            <a:ahLst/>
            <a:cxnLst/>
            <a:rect r="r" b="b" t="t" l="l"/>
            <a:pathLst>
              <a:path h="1051250" w="1051250">
                <a:moveTo>
                  <a:pt x="0" y="0"/>
                </a:moveTo>
                <a:lnTo>
                  <a:pt x="1051250" y="0"/>
                </a:lnTo>
                <a:lnTo>
                  <a:pt x="1051250" y="1051250"/>
                </a:lnTo>
                <a:lnTo>
                  <a:pt x="0" y="105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07467" y="972843"/>
            <a:ext cx="2515935" cy="8285457"/>
          </a:xfrm>
          <a:custGeom>
            <a:avLst/>
            <a:gdLst/>
            <a:ahLst/>
            <a:cxnLst/>
            <a:rect r="r" b="b" t="t" l="l"/>
            <a:pathLst>
              <a:path h="8285457" w="2515935">
                <a:moveTo>
                  <a:pt x="0" y="0"/>
                </a:moveTo>
                <a:lnTo>
                  <a:pt x="2515936" y="0"/>
                </a:lnTo>
                <a:lnTo>
                  <a:pt x="2515936" y="8285457"/>
                </a:lnTo>
                <a:lnTo>
                  <a:pt x="0" y="82854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53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4399" y="542302"/>
            <a:ext cx="736371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393E46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YOLO Mod</a:t>
            </a:r>
            <a:r>
              <a:rPr lang="en-US" b="true" sz="6999">
                <a:solidFill>
                  <a:srgbClr val="393E46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el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2689" y="3174025"/>
            <a:ext cx="10130790" cy="372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393E46"/>
                </a:solidFill>
                <a:latin typeface="Assistant"/>
                <a:ea typeface="Assistant"/>
                <a:cs typeface="Assistant"/>
                <a:sym typeface="Assistant"/>
              </a:rPr>
              <a:t>Input Image → Image captured by the UAV camera.</a:t>
            </a:r>
          </a:p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393E46"/>
                </a:solidFill>
                <a:latin typeface="Assistant"/>
                <a:ea typeface="Assistant"/>
                <a:cs typeface="Assistant"/>
                <a:sym typeface="Assistant"/>
              </a:rPr>
              <a:t>Image Preprocessing → Image is prepared for the YOLO model.</a:t>
            </a:r>
          </a:p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393E46"/>
                </a:solidFill>
                <a:latin typeface="Assistant"/>
                <a:ea typeface="Assistant"/>
                <a:cs typeface="Assistant"/>
                <a:sym typeface="Assistant"/>
              </a:rPr>
              <a:t>YOLO Model → Processes the image to detect objects.</a:t>
            </a:r>
          </a:p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393E46"/>
                </a:solidFill>
                <a:latin typeface="Assistant"/>
                <a:ea typeface="Assistant"/>
                <a:cs typeface="Assistant"/>
                <a:sym typeface="Assistant"/>
              </a:rPr>
              <a:t>Bounding Box Detection → Identifies the location of each person.</a:t>
            </a:r>
          </a:p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393E46"/>
                </a:solidFill>
                <a:latin typeface="Assistant"/>
                <a:ea typeface="Assistant"/>
                <a:cs typeface="Assistant"/>
                <a:sym typeface="Assistant"/>
              </a:rPr>
              <a:t>Confidence Filtering → Removes low-confidence detections.</a:t>
            </a:r>
          </a:p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393E46"/>
                </a:solidFill>
                <a:latin typeface="Assistant"/>
                <a:ea typeface="Assistant"/>
                <a:cs typeface="Assistant"/>
                <a:sym typeface="Assistant"/>
              </a:rPr>
              <a:t>Detected Person → Final detected person is displayed.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5834713" y="4302377"/>
            <a:ext cx="4666676" cy="2494551"/>
          </a:xfrm>
          <a:custGeom>
            <a:avLst/>
            <a:gdLst/>
            <a:ahLst/>
            <a:cxnLst/>
            <a:rect r="r" b="b" t="t" l="l"/>
            <a:pathLst>
              <a:path h="2494551" w="4666676">
                <a:moveTo>
                  <a:pt x="0" y="0"/>
                </a:moveTo>
                <a:lnTo>
                  <a:pt x="4666677" y="0"/>
                </a:lnTo>
                <a:lnTo>
                  <a:pt x="4666677" y="2494551"/>
                </a:lnTo>
                <a:lnTo>
                  <a:pt x="0" y="2494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497335" y="15575"/>
            <a:ext cx="1013125" cy="1013125"/>
          </a:xfrm>
          <a:custGeom>
            <a:avLst/>
            <a:gdLst/>
            <a:ahLst/>
            <a:cxnLst/>
            <a:rect r="r" b="b" t="t" l="l"/>
            <a:pathLst>
              <a:path h="1013125" w="1013125">
                <a:moveTo>
                  <a:pt x="0" y="0"/>
                </a:moveTo>
                <a:lnTo>
                  <a:pt x="1013125" y="0"/>
                </a:lnTo>
                <a:lnTo>
                  <a:pt x="1013125" y="1013125"/>
                </a:lnTo>
                <a:lnTo>
                  <a:pt x="0" y="101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82422" y="4839039"/>
            <a:ext cx="1111122" cy="1111122"/>
          </a:xfrm>
          <a:custGeom>
            <a:avLst/>
            <a:gdLst/>
            <a:ahLst/>
            <a:cxnLst/>
            <a:rect r="r" b="b" t="t" l="l"/>
            <a:pathLst>
              <a:path h="1111122" w="1111122">
                <a:moveTo>
                  <a:pt x="0" y="0"/>
                </a:moveTo>
                <a:lnTo>
                  <a:pt x="1111122" y="0"/>
                </a:lnTo>
                <a:lnTo>
                  <a:pt x="1111122" y="1111122"/>
                </a:lnTo>
                <a:lnTo>
                  <a:pt x="0" y="1111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9029" y="3351134"/>
            <a:ext cx="7804868" cy="5114782"/>
          </a:xfrm>
          <a:custGeom>
            <a:avLst/>
            <a:gdLst/>
            <a:ahLst/>
            <a:cxnLst/>
            <a:rect r="r" b="b" t="t" l="l"/>
            <a:pathLst>
              <a:path h="5114782" w="7804868">
                <a:moveTo>
                  <a:pt x="0" y="0"/>
                </a:moveTo>
                <a:lnTo>
                  <a:pt x="7804868" y="0"/>
                </a:lnTo>
                <a:lnTo>
                  <a:pt x="7804868" y="5114782"/>
                </a:lnTo>
                <a:lnTo>
                  <a:pt x="0" y="51147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22601" y="3214992"/>
            <a:ext cx="8220359" cy="5387067"/>
          </a:xfrm>
          <a:custGeom>
            <a:avLst/>
            <a:gdLst/>
            <a:ahLst/>
            <a:cxnLst/>
            <a:rect r="r" b="b" t="t" l="l"/>
            <a:pathLst>
              <a:path h="5387067" w="8220359">
                <a:moveTo>
                  <a:pt x="0" y="0"/>
                </a:moveTo>
                <a:lnTo>
                  <a:pt x="8220359" y="0"/>
                </a:lnTo>
                <a:lnTo>
                  <a:pt x="8220359" y="5387066"/>
                </a:lnTo>
                <a:lnTo>
                  <a:pt x="0" y="53870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1975"/>
            <a:ext cx="651321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9029" y="2062305"/>
            <a:ext cx="810307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9883" y="2062305"/>
            <a:ext cx="810307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36710" y="223006"/>
            <a:ext cx="5044872" cy="9473939"/>
          </a:xfrm>
          <a:custGeom>
            <a:avLst/>
            <a:gdLst/>
            <a:ahLst/>
            <a:cxnLst/>
            <a:rect r="r" b="b" t="t" l="l"/>
            <a:pathLst>
              <a:path h="9473939" w="5044872">
                <a:moveTo>
                  <a:pt x="0" y="0"/>
                </a:moveTo>
                <a:lnTo>
                  <a:pt x="5044873" y="0"/>
                </a:lnTo>
                <a:lnTo>
                  <a:pt x="5044873" y="9473939"/>
                </a:lnTo>
                <a:lnTo>
                  <a:pt x="0" y="9473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8871" y="3876256"/>
            <a:ext cx="9277036" cy="5632107"/>
          </a:xfrm>
          <a:custGeom>
            <a:avLst/>
            <a:gdLst/>
            <a:ahLst/>
            <a:cxnLst/>
            <a:rect r="r" b="b" t="t" l="l"/>
            <a:pathLst>
              <a:path h="5632107" w="9277036">
                <a:moveTo>
                  <a:pt x="0" y="0"/>
                </a:moveTo>
                <a:lnTo>
                  <a:pt x="9277036" y="0"/>
                </a:lnTo>
                <a:lnTo>
                  <a:pt x="9277036" y="5632107"/>
                </a:lnTo>
                <a:lnTo>
                  <a:pt x="0" y="5632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311" t="-63531" r="-4249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08871" y="537527"/>
            <a:ext cx="90651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Multi-U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 Search Algorithm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8871" y="1835195"/>
            <a:ext cx="9409835" cy="165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Objective</a:t>
            </a:r>
          </a:p>
          <a:p>
            <a:pPr algn="l">
              <a:lnSpc>
                <a:spcPts val="413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Allow multiple UAVs to explore different parts of an unknown environment instead of unnecessarily searching the same region.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503" y="4110772"/>
            <a:ext cx="1269203" cy="1269203"/>
          </a:xfrm>
          <a:custGeom>
            <a:avLst/>
            <a:gdLst/>
            <a:ahLst/>
            <a:cxnLst/>
            <a:rect r="r" b="b" t="t" l="l"/>
            <a:pathLst>
              <a:path h="1269203" w="1269203">
                <a:moveTo>
                  <a:pt x="0" y="0"/>
                </a:moveTo>
                <a:lnTo>
                  <a:pt x="1269203" y="0"/>
                </a:lnTo>
                <a:lnTo>
                  <a:pt x="1269203" y="1269203"/>
                </a:lnTo>
                <a:lnTo>
                  <a:pt x="0" y="1269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25956" y="3324589"/>
            <a:ext cx="1062044" cy="1062044"/>
          </a:xfrm>
          <a:custGeom>
            <a:avLst/>
            <a:gdLst/>
            <a:ahLst/>
            <a:cxnLst/>
            <a:rect r="r" b="b" t="t" l="l"/>
            <a:pathLst>
              <a:path h="1062044" w="1062044">
                <a:moveTo>
                  <a:pt x="0" y="0"/>
                </a:moveTo>
                <a:lnTo>
                  <a:pt x="1062044" y="0"/>
                </a:lnTo>
                <a:lnTo>
                  <a:pt x="1062044" y="1062044"/>
                </a:lnTo>
                <a:lnTo>
                  <a:pt x="0" y="1062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60" y="-172178"/>
            <a:ext cx="8795042" cy="3222475"/>
          </a:xfrm>
          <a:custGeom>
            <a:avLst/>
            <a:gdLst/>
            <a:ahLst/>
            <a:cxnLst/>
            <a:rect r="r" b="b" t="t" l="l"/>
            <a:pathLst>
              <a:path h="3222475" w="8795042">
                <a:moveTo>
                  <a:pt x="0" y="0"/>
                </a:moveTo>
                <a:lnTo>
                  <a:pt x="8795042" y="0"/>
                </a:lnTo>
                <a:lnTo>
                  <a:pt x="8795042" y="3222475"/>
                </a:lnTo>
                <a:lnTo>
                  <a:pt x="0" y="3222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641" t="-48493" r="-23659" b="-6997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206665">
            <a:off x="10061601" y="-2171708"/>
            <a:ext cx="2495490" cy="4343416"/>
          </a:xfrm>
          <a:custGeom>
            <a:avLst/>
            <a:gdLst/>
            <a:ahLst/>
            <a:cxnLst/>
            <a:rect r="r" b="b" t="t" l="l"/>
            <a:pathLst>
              <a:path h="4343416" w="2495490">
                <a:moveTo>
                  <a:pt x="0" y="0"/>
                </a:moveTo>
                <a:lnTo>
                  <a:pt x="2495490" y="0"/>
                </a:lnTo>
                <a:lnTo>
                  <a:pt x="2495490" y="4343416"/>
                </a:lnTo>
                <a:lnTo>
                  <a:pt x="0" y="43434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649" y="1912965"/>
            <a:ext cx="8301159" cy="8026445"/>
          </a:xfrm>
          <a:custGeom>
            <a:avLst/>
            <a:gdLst/>
            <a:ahLst/>
            <a:cxnLst/>
            <a:rect r="r" b="b" t="t" l="l"/>
            <a:pathLst>
              <a:path h="8026445" w="8301159">
                <a:moveTo>
                  <a:pt x="0" y="0"/>
                </a:moveTo>
                <a:lnTo>
                  <a:pt x="8301160" y="0"/>
                </a:lnTo>
                <a:lnTo>
                  <a:pt x="8301160" y="8026445"/>
                </a:lnTo>
                <a:lnTo>
                  <a:pt x="0" y="80264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0649" y="1028700"/>
            <a:ext cx="1288234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2D Search</a:t>
            </a:r>
            <a:r>
              <a:rPr lang="en-US" b="true" sz="6999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 Simulation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0723" y="4785663"/>
            <a:ext cx="6857048" cy="309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Observed Results</a:t>
            </a:r>
          </a:p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Multiple UAVs explore simultaneously.</a:t>
            </a:r>
          </a:p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UAVs receive different exploration targets.</a:t>
            </a:r>
          </a:p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Shared map is updated during exploration.</a:t>
            </a:r>
          </a:p>
          <a:p>
            <a:pPr algn="l" marL="602528" indent="-301264" lvl="1">
              <a:lnSpc>
                <a:spcPts val="5023"/>
              </a:lnSpc>
              <a:buFont typeface="Arial"/>
              <a:buChar char="•"/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Redundant exploration is reduced.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5834713" y="4302377"/>
            <a:ext cx="4666676" cy="2494551"/>
          </a:xfrm>
          <a:custGeom>
            <a:avLst/>
            <a:gdLst/>
            <a:ahLst/>
            <a:cxnLst/>
            <a:rect r="r" b="b" t="t" l="l"/>
            <a:pathLst>
              <a:path h="2494551" w="4666676">
                <a:moveTo>
                  <a:pt x="0" y="0"/>
                </a:moveTo>
                <a:lnTo>
                  <a:pt x="4666677" y="0"/>
                </a:lnTo>
                <a:lnTo>
                  <a:pt x="4666677" y="2494551"/>
                </a:lnTo>
                <a:lnTo>
                  <a:pt x="0" y="2494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497335" y="15575"/>
            <a:ext cx="1013125" cy="1013125"/>
          </a:xfrm>
          <a:custGeom>
            <a:avLst/>
            <a:gdLst/>
            <a:ahLst/>
            <a:cxnLst/>
            <a:rect r="r" b="b" t="t" l="l"/>
            <a:pathLst>
              <a:path h="1013125" w="1013125">
                <a:moveTo>
                  <a:pt x="0" y="0"/>
                </a:moveTo>
                <a:lnTo>
                  <a:pt x="1013125" y="0"/>
                </a:lnTo>
                <a:lnTo>
                  <a:pt x="1013125" y="1013125"/>
                </a:lnTo>
                <a:lnTo>
                  <a:pt x="0" y="101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82422" y="4839039"/>
            <a:ext cx="1111122" cy="1111122"/>
          </a:xfrm>
          <a:custGeom>
            <a:avLst/>
            <a:gdLst/>
            <a:ahLst/>
            <a:cxnLst/>
            <a:rect r="r" b="b" t="t" l="l"/>
            <a:pathLst>
              <a:path h="1111122" w="1111122">
                <a:moveTo>
                  <a:pt x="0" y="0"/>
                </a:moveTo>
                <a:lnTo>
                  <a:pt x="1111122" y="0"/>
                </a:lnTo>
                <a:lnTo>
                  <a:pt x="1111122" y="1111122"/>
                </a:lnTo>
                <a:lnTo>
                  <a:pt x="0" y="1111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50835" y="-1080199"/>
            <a:ext cx="7919559" cy="5263207"/>
          </a:xfrm>
          <a:custGeom>
            <a:avLst/>
            <a:gdLst/>
            <a:ahLst/>
            <a:cxnLst/>
            <a:rect r="r" b="b" t="t" l="l"/>
            <a:pathLst>
              <a:path h="5263207" w="7919559">
                <a:moveTo>
                  <a:pt x="0" y="0"/>
                </a:moveTo>
                <a:lnTo>
                  <a:pt x="7919559" y="0"/>
                </a:lnTo>
                <a:lnTo>
                  <a:pt x="7919559" y="5263207"/>
                </a:lnTo>
                <a:lnTo>
                  <a:pt x="0" y="52632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80922" y="7152830"/>
            <a:ext cx="8240208" cy="2654055"/>
          </a:xfrm>
          <a:custGeom>
            <a:avLst/>
            <a:gdLst/>
            <a:ahLst/>
            <a:cxnLst/>
            <a:rect r="r" b="b" t="t" l="l"/>
            <a:pathLst>
              <a:path h="2654055" w="8240208">
                <a:moveTo>
                  <a:pt x="0" y="0"/>
                </a:moveTo>
                <a:lnTo>
                  <a:pt x="8240207" y="0"/>
                </a:lnTo>
                <a:lnTo>
                  <a:pt x="8240207" y="2654055"/>
                </a:lnTo>
                <a:lnTo>
                  <a:pt x="0" y="26540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1975"/>
            <a:ext cx="651321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Eva</a:t>
            </a:r>
            <a:r>
              <a:rPr lang="en-US" b="true" sz="6000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luation Metrics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5461" y="2074843"/>
            <a:ext cx="9628663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7"/>
              </a:lnSpc>
              <a:spcBef>
                <a:spcPct val="0"/>
              </a:spcBef>
            </a:pPr>
            <a:r>
              <a:rPr lang="en-US" b="true" sz="254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Multi-UAV Exploration</a:t>
            </a:r>
          </a:p>
          <a:p>
            <a:pPr algn="l" marL="550075" indent="-275038" lvl="1">
              <a:lnSpc>
                <a:spcPts val="3057"/>
              </a:lnSpc>
              <a:buFont typeface="Arial"/>
              <a:buChar char="•"/>
            </a:pPr>
            <a:r>
              <a:rPr lang="en-US" b="true" sz="254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Coverage: 100% in most maps; 98.4% in complex mazes</a:t>
            </a:r>
          </a:p>
          <a:p>
            <a:pPr algn="l" marL="550075" indent="-275038" lvl="1">
              <a:lnSpc>
                <a:spcPts val="3057"/>
              </a:lnSpc>
              <a:buFont typeface="Arial"/>
              <a:buChar char="•"/>
            </a:pPr>
            <a:r>
              <a:rPr lang="en-US" b="true" sz="254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Exploration Time: 20–25% faster with Hungarian coordination</a:t>
            </a:r>
          </a:p>
          <a:p>
            <a:pPr algn="l" marL="550075" indent="-275038" lvl="1">
              <a:lnSpc>
                <a:spcPts val="3057"/>
              </a:lnSpc>
              <a:buFont typeface="Arial"/>
              <a:buChar char="•"/>
            </a:pPr>
            <a:r>
              <a:rPr lang="en-US" b="true" sz="254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Path Length: 172.7 m average</a:t>
            </a:r>
          </a:p>
          <a:p>
            <a:pPr algn="l" marL="550075" indent="-275038" lvl="1">
              <a:lnSpc>
                <a:spcPts val="3057"/>
              </a:lnSpc>
              <a:buFont typeface="Arial"/>
              <a:buChar char="•"/>
            </a:pPr>
            <a:r>
              <a:rPr lang="en-US" b="true" sz="254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Redundant Coverage: &gt;50% reduction</a:t>
            </a:r>
          </a:p>
          <a:p>
            <a:pPr algn="l" marL="550075" indent="-275038" lvl="1">
              <a:lnSpc>
                <a:spcPts val="3057"/>
              </a:lnSpc>
              <a:buFont typeface="Arial"/>
              <a:buChar char="•"/>
            </a:pPr>
            <a:r>
              <a:rPr lang="en-US" b="true" sz="254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A* Efficiency: 8.1× fewer nodes than UCS</a:t>
            </a:r>
          </a:p>
          <a:p>
            <a:pPr algn="l">
              <a:lnSpc>
                <a:spcPts val="3057"/>
              </a:lnSpc>
              <a:spcBef>
                <a:spcPct val="0"/>
              </a:spcBef>
            </a:pPr>
          </a:p>
          <a:p>
            <a:pPr algn="l">
              <a:lnSpc>
                <a:spcPts val="305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75461" y="5549652"/>
            <a:ext cx="6805612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  <a:spcBef>
                <a:spcPct val="0"/>
              </a:spcBef>
            </a:pPr>
            <a:r>
              <a:rPr lang="en-US" b="true" sz="2766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YOLOv8 Detection</a:t>
            </a:r>
          </a:p>
          <a:p>
            <a:pPr algn="l" marL="597354" indent="-298677" lvl="1">
              <a:lnSpc>
                <a:spcPts val="3320"/>
              </a:lnSpc>
              <a:buFont typeface="Arial"/>
              <a:buChar char="•"/>
            </a:pPr>
            <a:r>
              <a:rPr lang="en-US" b="true" sz="2766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Precision: 77.6% overall | 72.0% Person</a:t>
            </a:r>
          </a:p>
          <a:p>
            <a:pPr algn="l" marL="597354" indent="-298677" lvl="1">
              <a:lnSpc>
                <a:spcPts val="3320"/>
              </a:lnSpc>
              <a:buFont typeface="Arial"/>
              <a:buChar char="•"/>
            </a:pPr>
            <a:r>
              <a:rPr lang="en-US" b="true" sz="2766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Recall: 63.1% overall | 50.6% Person</a:t>
            </a:r>
          </a:p>
          <a:p>
            <a:pPr algn="l" marL="597354" indent="-298677" lvl="1">
              <a:lnSpc>
                <a:spcPts val="3320"/>
              </a:lnSpc>
              <a:buFont typeface="Arial"/>
              <a:buChar char="•"/>
            </a:pPr>
            <a:r>
              <a:rPr lang="en-US" b="true" sz="2766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mAP@50: 68.9% overall | 57.1% Person</a:t>
            </a:r>
          </a:p>
          <a:p>
            <a:pPr algn="l" marL="597354" indent="-298677" lvl="1">
              <a:lnSpc>
                <a:spcPts val="3320"/>
              </a:lnSpc>
              <a:buFont typeface="Arial"/>
              <a:buChar char="•"/>
            </a:pPr>
            <a:r>
              <a:rPr lang="en-US" b="true" sz="2766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IoU Threshold: ≥ 0.50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7607" y="8211041"/>
            <a:ext cx="7997485" cy="118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3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Key Result</a:t>
            </a:r>
          </a:p>
          <a:p>
            <a:pPr algn="l">
              <a:lnSpc>
                <a:spcPts val="3153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Coordinated UAVs → faster exploration + less overlap</a:t>
            </a:r>
          </a:p>
          <a:p>
            <a:pPr algn="l">
              <a:lnSpc>
                <a:spcPts val="3153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 YOLOv8 → aerial person/vehicle detection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3567172"/>
            <a:ext cx="8845826" cy="3152657"/>
          </a:xfrm>
          <a:custGeom>
            <a:avLst/>
            <a:gdLst/>
            <a:ahLst/>
            <a:cxnLst/>
            <a:rect r="r" b="b" t="t" l="l"/>
            <a:pathLst>
              <a:path h="3152657" w="8845826">
                <a:moveTo>
                  <a:pt x="0" y="0"/>
                </a:moveTo>
                <a:lnTo>
                  <a:pt x="8845826" y="0"/>
                </a:lnTo>
                <a:lnTo>
                  <a:pt x="8845826" y="3152656"/>
                </a:lnTo>
                <a:lnTo>
                  <a:pt x="0" y="3152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740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DAHV2govBwA</dc:identifier>
  <dcterms:modified xsi:type="dcterms:W3CDTF">2011-08-01T06:04:30Z</dcterms:modified>
  <cp:revision>1</cp:revision>
  <dc:title>DA2- Utility-Driven Coordinated Multi-UAV Exploration with Online Target Localization</dc:title>
</cp:coreProperties>
</file>